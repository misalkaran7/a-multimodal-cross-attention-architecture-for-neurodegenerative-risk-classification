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embeddedFontLst>
    <p:embeddedFont>
      <p:font typeface="Cinzel"/>
      <p:bold r:id="rId13"/>
    </p:embeddedFont>
    <p:embeddedFont>
      <p:font typeface="Montserrat" panose="000005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306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69BC1C70-7FC5-206B-74DE-5DBA0C43AD9B}"/>
              </a:ext>
            </a:extLst>
          </p:cNvPr>
          <p:cNvSpPr txBox="1"/>
          <p:nvPr/>
        </p:nvSpPr>
        <p:spPr>
          <a:xfrm>
            <a:off x="4232" y="2324890"/>
            <a:ext cx="12192000" cy="954107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Multimodal Cross-Attention Architecture for Neurodegenerative Risk Classification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C335DEA-0DCB-FFA5-5AF3-9CE4D2D50DB8}"/>
              </a:ext>
            </a:extLst>
          </p:cNvPr>
          <p:cNvSpPr txBox="1"/>
          <p:nvPr/>
        </p:nvSpPr>
        <p:spPr>
          <a:xfrm>
            <a:off x="2647808" y="5841395"/>
            <a:ext cx="65798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Symbiosis Institute of Technology, Nagpur Campus</a:t>
            </a:r>
            <a:endParaRPr lang="ko-KR" alt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72ED435-A3F0-92BC-476F-DA7B7C5B9893}"/>
              </a:ext>
            </a:extLst>
          </p:cNvPr>
          <p:cNvSpPr txBox="1"/>
          <p:nvPr/>
        </p:nvSpPr>
        <p:spPr>
          <a:xfrm>
            <a:off x="1133105" y="1146356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CA - 3 Presentation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4C0E582-160F-6281-AC4B-C15F7EABD8DC}"/>
              </a:ext>
            </a:extLst>
          </p:cNvPr>
          <p:cNvSpPr txBox="1"/>
          <p:nvPr/>
        </p:nvSpPr>
        <p:spPr>
          <a:xfrm>
            <a:off x="89511" y="3459213"/>
            <a:ext cx="639009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Karan Misal  |  23070521071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404A016-F2EA-FC7C-9488-C5AB4449245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81DC39C-F442-6A6B-C7DB-401D8DE5C77F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9D4B2DC-12A2-90DA-8395-569AE2D7746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115" name="Freeform: Shape 4">
                <a:extLst>
                  <a:ext uri="{FF2B5EF4-FFF2-40B4-BE49-F238E27FC236}">
                    <a16:creationId xmlns:a16="http://schemas.microsoft.com/office/drawing/2014/main" id="{4F655ABE-5149-B197-E089-9379BA11F558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5">
                <a:extLst>
                  <a:ext uri="{FF2B5EF4-FFF2-40B4-BE49-F238E27FC236}">
                    <a16:creationId xmlns:a16="http://schemas.microsoft.com/office/drawing/2014/main" id="{7F8E52F9-916E-6E2D-3F0A-0A29876BADAA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6">
                <a:extLst>
                  <a:ext uri="{FF2B5EF4-FFF2-40B4-BE49-F238E27FC236}">
                    <a16:creationId xmlns:a16="http://schemas.microsoft.com/office/drawing/2014/main" id="{4F590FF3-67F8-6D0A-61DE-EF51F7D91D9F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7">
                <a:extLst>
                  <a:ext uri="{FF2B5EF4-FFF2-40B4-BE49-F238E27FC236}">
                    <a16:creationId xmlns:a16="http://schemas.microsoft.com/office/drawing/2014/main" id="{5090ED0C-7FCF-2F22-5620-09C8B53B96C8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8">
                <a:extLst>
                  <a:ext uri="{FF2B5EF4-FFF2-40B4-BE49-F238E27FC236}">
                    <a16:creationId xmlns:a16="http://schemas.microsoft.com/office/drawing/2014/main" id="{4395FBAF-0010-C749-D757-5E0E32CDFCB1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9">
                <a:extLst>
                  <a:ext uri="{FF2B5EF4-FFF2-40B4-BE49-F238E27FC236}">
                    <a16:creationId xmlns:a16="http://schemas.microsoft.com/office/drawing/2014/main" id="{5B2A8500-B5AF-3649-C1F5-60C5C49FDA2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10">
                <a:extLst>
                  <a:ext uri="{FF2B5EF4-FFF2-40B4-BE49-F238E27FC236}">
                    <a16:creationId xmlns:a16="http://schemas.microsoft.com/office/drawing/2014/main" id="{2B1C8802-733C-4B57-FC36-13E8D59F3D6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11">
                <a:extLst>
                  <a:ext uri="{FF2B5EF4-FFF2-40B4-BE49-F238E27FC236}">
                    <a16:creationId xmlns:a16="http://schemas.microsoft.com/office/drawing/2014/main" id="{B332B563-B4BC-645D-B860-2D4D36DC5FD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12">
                <a:extLst>
                  <a:ext uri="{FF2B5EF4-FFF2-40B4-BE49-F238E27FC236}">
                    <a16:creationId xmlns:a16="http://schemas.microsoft.com/office/drawing/2014/main" id="{B2F00865-0EF2-9C08-2A16-577A8F2A8090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4" name="Freeform: Shape 13">
                <a:extLst>
                  <a:ext uri="{FF2B5EF4-FFF2-40B4-BE49-F238E27FC236}">
                    <a16:creationId xmlns:a16="http://schemas.microsoft.com/office/drawing/2014/main" id="{A5A7A182-7A78-0610-40C5-58A6896229E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5" name="Freeform: Shape 14">
                <a:extLst>
                  <a:ext uri="{FF2B5EF4-FFF2-40B4-BE49-F238E27FC236}">
                    <a16:creationId xmlns:a16="http://schemas.microsoft.com/office/drawing/2014/main" id="{A311FD34-C905-C0C9-91D8-9B62A6D9E787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6" name="Freeform: Shape 15">
                <a:extLst>
                  <a:ext uri="{FF2B5EF4-FFF2-40B4-BE49-F238E27FC236}">
                    <a16:creationId xmlns:a16="http://schemas.microsoft.com/office/drawing/2014/main" id="{A9F102F0-FF6C-4AE2-8D8E-F4CF89C14C9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7" name="Freeform: Shape 16">
                <a:extLst>
                  <a:ext uri="{FF2B5EF4-FFF2-40B4-BE49-F238E27FC236}">
                    <a16:creationId xmlns:a16="http://schemas.microsoft.com/office/drawing/2014/main" id="{33E91E6E-6845-BCC5-E2BE-18242D39EC46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8" name="Freeform: Shape 17">
                <a:extLst>
                  <a:ext uri="{FF2B5EF4-FFF2-40B4-BE49-F238E27FC236}">
                    <a16:creationId xmlns:a16="http://schemas.microsoft.com/office/drawing/2014/main" id="{1F6B80AF-85E2-E0F9-B487-75DB1A08E614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9" name="Freeform: Shape 18">
                <a:extLst>
                  <a:ext uri="{FF2B5EF4-FFF2-40B4-BE49-F238E27FC236}">
                    <a16:creationId xmlns:a16="http://schemas.microsoft.com/office/drawing/2014/main" id="{8654CF46-6565-4263-B80A-60D1D9FBAEA7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0" name="Freeform: Shape 19">
                <a:extLst>
                  <a:ext uri="{FF2B5EF4-FFF2-40B4-BE49-F238E27FC236}">
                    <a16:creationId xmlns:a16="http://schemas.microsoft.com/office/drawing/2014/main" id="{27FC69BB-D955-5AE6-E7A9-C47B7E0668CC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1" name="Freeform: Shape 20">
                <a:extLst>
                  <a:ext uri="{FF2B5EF4-FFF2-40B4-BE49-F238E27FC236}">
                    <a16:creationId xmlns:a16="http://schemas.microsoft.com/office/drawing/2014/main" id="{9FCF796F-9295-6629-16D7-F1D4471D8FDF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2" name="Freeform: Shape 21">
                <a:extLst>
                  <a:ext uri="{FF2B5EF4-FFF2-40B4-BE49-F238E27FC236}">
                    <a16:creationId xmlns:a16="http://schemas.microsoft.com/office/drawing/2014/main" id="{85FA5498-D05C-D2E6-5948-ECA15BBEFB2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3" name="Freeform: Shape 22">
                <a:extLst>
                  <a:ext uri="{FF2B5EF4-FFF2-40B4-BE49-F238E27FC236}">
                    <a16:creationId xmlns:a16="http://schemas.microsoft.com/office/drawing/2014/main" id="{828F9B55-4A75-500F-3ADE-EEA2A65B1E0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4" name="Freeform: Shape 23">
                <a:extLst>
                  <a:ext uri="{FF2B5EF4-FFF2-40B4-BE49-F238E27FC236}">
                    <a16:creationId xmlns:a16="http://schemas.microsoft.com/office/drawing/2014/main" id="{2ED44275-5C1B-01AA-1348-85877815351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5" name="Freeform: Shape 24">
                <a:extLst>
                  <a:ext uri="{FF2B5EF4-FFF2-40B4-BE49-F238E27FC236}">
                    <a16:creationId xmlns:a16="http://schemas.microsoft.com/office/drawing/2014/main" id="{691E3918-AB91-AC3C-B810-967D15BBF36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6" name="Freeform: Shape 25">
                <a:extLst>
                  <a:ext uri="{FF2B5EF4-FFF2-40B4-BE49-F238E27FC236}">
                    <a16:creationId xmlns:a16="http://schemas.microsoft.com/office/drawing/2014/main" id="{63D18848-6694-642F-B9D3-25BF4A7AE69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7" name="Freeform: Shape 26">
                <a:extLst>
                  <a:ext uri="{FF2B5EF4-FFF2-40B4-BE49-F238E27FC236}">
                    <a16:creationId xmlns:a16="http://schemas.microsoft.com/office/drawing/2014/main" id="{2E0EB298-BD0E-86FF-D17A-F3F3A0EB3B57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8" name="Freeform: Shape 27">
                <a:extLst>
                  <a:ext uri="{FF2B5EF4-FFF2-40B4-BE49-F238E27FC236}">
                    <a16:creationId xmlns:a16="http://schemas.microsoft.com/office/drawing/2014/main" id="{0E34AE84-84CB-7431-D19F-12AB1BCE6D4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9" name="Freeform: Shape 28">
                <a:extLst>
                  <a:ext uri="{FF2B5EF4-FFF2-40B4-BE49-F238E27FC236}">
                    <a16:creationId xmlns:a16="http://schemas.microsoft.com/office/drawing/2014/main" id="{5FFA4DA7-E93D-5D71-48C4-F9BED81B2E2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0" name="Freeform: Shape 29">
                <a:extLst>
                  <a:ext uri="{FF2B5EF4-FFF2-40B4-BE49-F238E27FC236}">
                    <a16:creationId xmlns:a16="http://schemas.microsoft.com/office/drawing/2014/main" id="{A921D868-B2A8-8BDA-0376-3F58BBD1496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1" name="Freeform: Shape 30">
                <a:extLst>
                  <a:ext uri="{FF2B5EF4-FFF2-40B4-BE49-F238E27FC236}">
                    <a16:creationId xmlns:a16="http://schemas.microsoft.com/office/drawing/2014/main" id="{1219B434-4343-5F2F-7E47-4637D92E330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2" name="Freeform: Shape 31">
                <a:extLst>
                  <a:ext uri="{FF2B5EF4-FFF2-40B4-BE49-F238E27FC236}">
                    <a16:creationId xmlns:a16="http://schemas.microsoft.com/office/drawing/2014/main" id="{6C4E10EA-1AF4-4473-B2A7-066F8167269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3" name="Freeform: Shape 32">
                <a:extLst>
                  <a:ext uri="{FF2B5EF4-FFF2-40B4-BE49-F238E27FC236}">
                    <a16:creationId xmlns:a16="http://schemas.microsoft.com/office/drawing/2014/main" id="{8766CC6A-D3BB-09DD-281B-410EFB38A40E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4" name="Freeform: Shape 33">
                <a:extLst>
                  <a:ext uri="{FF2B5EF4-FFF2-40B4-BE49-F238E27FC236}">
                    <a16:creationId xmlns:a16="http://schemas.microsoft.com/office/drawing/2014/main" id="{F3BD3AD4-DEA1-EB7F-59C0-380C4AA9C434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5" name="Freeform: Shape 34">
                <a:extLst>
                  <a:ext uri="{FF2B5EF4-FFF2-40B4-BE49-F238E27FC236}">
                    <a16:creationId xmlns:a16="http://schemas.microsoft.com/office/drawing/2014/main" id="{AD052158-A7FA-40C3-E703-E1C22D523DB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6" name="Freeform: Shape 35">
                <a:extLst>
                  <a:ext uri="{FF2B5EF4-FFF2-40B4-BE49-F238E27FC236}">
                    <a16:creationId xmlns:a16="http://schemas.microsoft.com/office/drawing/2014/main" id="{FFDB98F8-1C07-45AD-38E8-70D28A5AF7E8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7" name="Freeform: Shape 36">
                <a:extLst>
                  <a:ext uri="{FF2B5EF4-FFF2-40B4-BE49-F238E27FC236}">
                    <a16:creationId xmlns:a16="http://schemas.microsoft.com/office/drawing/2014/main" id="{852DC38B-A844-5D4C-0F5B-72944D769C6C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8" name="Freeform: Shape 37">
                <a:extLst>
                  <a:ext uri="{FF2B5EF4-FFF2-40B4-BE49-F238E27FC236}">
                    <a16:creationId xmlns:a16="http://schemas.microsoft.com/office/drawing/2014/main" id="{564D6C4F-1450-3498-E901-DA004B87E19F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9" name="Freeform: Shape 38">
                <a:extLst>
                  <a:ext uri="{FF2B5EF4-FFF2-40B4-BE49-F238E27FC236}">
                    <a16:creationId xmlns:a16="http://schemas.microsoft.com/office/drawing/2014/main" id="{9AB385AE-ECCC-E7E9-05D1-E5A231CA942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4377BFE-694B-0934-A377-BA12FAFB7480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51" name="Freeform: Shape 4">
              <a:extLst>
                <a:ext uri="{FF2B5EF4-FFF2-40B4-BE49-F238E27FC236}">
                  <a16:creationId xmlns:a16="http://schemas.microsoft.com/office/drawing/2014/main" id="{6E560048-D397-C6D1-F65B-9A7328D60F6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5">
              <a:extLst>
                <a:ext uri="{FF2B5EF4-FFF2-40B4-BE49-F238E27FC236}">
                  <a16:creationId xmlns:a16="http://schemas.microsoft.com/office/drawing/2014/main" id="{CD1B2C76-00B2-A342-FDA9-E7CD4E3E8FFB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6">
              <a:extLst>
                <a:ext uri="{FF2B5EF4-FFF2-40B4-BE49-F238E27FC236}">
                  <a16:creationId xmlns:a16="http://schemas.microsoft.com/office/drawing/2014/main" id="{80B8803A-579D-13F1-7EA9-D7825EEE000D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7">
              <a:extLst>
                <a:ext uri="{FF2B5EF4-FFF2-40B4-BE49-F238E27FC236}">
                  <a16:creationId xmlns:a16="http://schemas.microsoft.com/office/drawing/2014/main" id="{5D3D9B1E-D71D-5292-F855-393448FE66EA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8">
              <a:extLst>
                <a:ext uri="{FF2B5EF4-FFF2-40B4-BE49-F238E27FC236}">
                  <a16:creationId xmlns:a16="http://schemas.microsoft.com/office/drawing/2014/main" id="{DF655F6A-43EE-A955-8EBB-CF50A8D56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9">
              <a:extLst>
                <a:ext uri="{FF2B5EF4-FFF2-40B4-BE49-F238E27FC236}">
                  <a16:creationId xmlns:a16="http://schemas.microsoft.com/office/drawing/2014/main" id="{F8C81DB8-5626-9403-ACF3-7044CABD262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10">
              <a:extLst>
                <a:ext uri="{FF2B5EF4-FFF2-40B4-BE49-F238E27FC236}">
                  <a16:creationId xmlns:a16="http://schemas.microsoft.com/office/drawing/2014/main" id="{0BEA3434-65A8-7F31-66C8-9E61208BF43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11">
              <a:extLst>
                <a:ext uri="{FF2B5EF4-FFF2-40B4-BE49-F238E27FC236}">
                  <a16:creationId xmlns:a16="http://schemas.microsoft.com/office/drawing/2014/main" id="{169E686C-3C72-2528-81EB-714448FAD142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12">
              <a:extLst>
                <a:ext uri="{FF2B5EF4-FFF2-40B4-BE49-F238E27FC236}">
                  <a16:creationId xmlns:a16="http://schemas.microsoft.com/office/drawing/2014/main" id="{BAD3356F-6C1D-CB9B-2104-A060F8B189E5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Freeform: Shape 13">
              <a:extLst>
                <a:ext uri="{FF2B5EF4-FFF2-40B4-BE49-F238E27FC236}">
                  <a16:creationId xmlns:a16="http://schemas.microsoft.com/office/drawing/2014/main" id="{525EC470-29D3-0189-888F-5AB30424CD3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Freeform: Shape 14">
              <a:extLst>
                <a:ext uri="{FF2B5EF4-FFF2-40B4-BE49-F238E27FC236}">
                  <a16:creationId xmlns:a16="http://schemas.microsoft.com/office/drawing/2014/main" id="{FF237EC7-DB68-B868-8E6C-D41E62E55BA0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Freeform: Shape 15">
              <a:extLst>
                <a:ext uri="{FF2B5EF4-FFF2-40B4-BE49-F238E27FC236}">
                  <a16:creationId xmlns:a16="http://schemas.microsoft.com/office/drawing/2014/main" id="{A95E791D-FAA1-7EF8-EB16-538746ED3CC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Freeform: Shape 16">
              <a:extLst>
                <a:ext uri="{FF2B5EF4-FFF2-40B4-BE49-F238E27FC236}">
                  <a16:creationId xmlns:a16="http://schemas.microsoft.com/office/drawing/2014/main" id="{4EA4743B-3444-F3CA-BA3E-A1DF66BA988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: Shape 17">
              <a:extLst>
                <a:ext uri="{FF2B5EF4-FFF2-40B4-BE49-F238E27FC236}">
                  <a16:creationId xmlns:a16="http://schemas.microsoft.com/office/drawing/2014/main" id="{2043383E-98E5-83CA-C9AA-1BB7FD995054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Freeform: Shape 18">
              <a:extLst>
                <a:ext uri="{FF2B5EF4-FFF2-40B4-BE49-F238E27FC236}">
                  <a16:creationId xmlns:a16="http://schemas.microsoft.com/office/drawing/2014/main" id="{6DA91DCB-FAE9-AFDA-12A3-1401B5BD57C4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Freeform: Shape 19">
              <a:extLst>
                <a:ext uri="{FF2B5EF4-FFF2-40B4-BE49-F238E27FC236}">
                  <a16:creationId xmlns:a16="http://schemas.microsoft.com/office/drawing/2014/main" id="{2D13A40B-52FA-6B74-882A-353311259BD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Freeform: Shape 20">
              <a:extLst>
                <a:ext uri="{FF2B5EF4-FFF2-40B4-BE49-F238E27FC236}">
                  <a16:creationId xmlns:a16="http://schemas.microsoft.com/office/drawing/2014/main" id="{D8D87C0F-E1F2-3DE8-3589-2E779997CAAF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Freeform: Shape 21">
              <a:extLst>
                <a:ext uri="{FF2B5EF4-FFF2-40B4-BE49-F238E27FC236}">
                  <a16:creationId xmlns:a16="http://schemas.microsoft.com/office/drawing/2014/main" id="{483B603F-35D0-5279-FFBD-C2F6D6C9617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Freeform: Shape 22">
              <a:extLst>
                <a:ext uri="{FF2B5EF4-FFF2-40B4-BE49-F238E27FC236}">
                  <a16:creationId xmlns:a16="http://schemas.microsoft.com/office/drawing/2014/main" id="{747C9347-2ABC-80D6-A135-C60A27CF24F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: Shape 23">
              <a:extLst>
                <a:ext uri="{FF2B5EF4-FFF2-40B4-BE49-F238E27FC236}">
                  <a16:creationId xmlns:a16="http://schemas.microsoft.com/office/drawing/2014/main" id="{43737EB7-0543-7A8C-6C2E-7BB4A1ACAA00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Freeform: Shape 24">
              <a:extLst>
                <a:ext uri="{FF2B5EF4-FFF2-40B4-BE49-F238E27FC236}">
                  <a16:creationId xmlns:a16="http://schemas.microsoft.com/office/drawing/2014/main" id="{4D1081FF-3D62-2BFD-D250-1FD74DE7825D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2" name="Freeform: Shape 25">
              <a:extLst>
                <a:ext uri="{FF2B5EF4-FFF2-40B4-BE49-F238E27FC236}">
                  <a16:creationId xmlns:a16="http://schemas.microsoft.com/office/drawing/2014/main" id="{81EF43CF-BF4A-DD1F-480B-26D0B1BEF2F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Freeform: Shape 26">
              <a:extLst>
                <a:ext uri="{FF2B5EF4-FFF2-40B4-BE49-F238E27FC236}">
                  <a16:creationId xmlns:a16="http://schemas.microsoft.com/office/drawing/2014/main" id="{73DA2739-87C3-B3E5-865C-98E96F92A8B0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Freeform: Shape 27">
              <a:extLst>
                <a:ext uri="{FF2B5EF4-FFF2-40B4-BE49-F238E27FC236}">
                  <a16:creationId xmlns:a16="http://schemas.microsoft.com/office/drawing/2014/main" id="{C6641D07-A875-E7D4-D95C-ADA6AA3D1C2D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: Shape 28">
              <a:extLst>
                <a:ext uri="{FF2B5EF4-FFF2-40B4-BE49-F238E27FC236}">
                  <a16:creationId xmlns:a16="http://schemas.microsoft.com/office/drawing/2014/main" id="{215F7CB3-6522-E109-05D2-4955633C8C0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: Shape 29">
              <a:extLst>
                <a:ext uri="{FF2B5EF4-FFF2-40B4-BE49-F238E27FC236}">
                  <a16:creationId xmlns:a16="http://schemas.microsoft.com/office/drawing/2014/main" id="{A7F90DC0-ABEA-4C80-C016-2F216609CA96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: Shape 30">
              <a:extLst>
                <a:ext uri="{FF2B5EF4-FFF2-40B4-BE49-F238E27FC236}">
                  <a16:creationId xmlns:a16="http://schemas.microsoft.com/office/drawing/2014/main" id="{F098929D-73D5-CA52-F09E-A3733F3FD4E7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Freeform: Shape 31">
              <a:extLst>
                <a:ext uri="{FF2B5EF4-FFF2-40B4-BE49-F238E27FC236}">
                  <a16:creationId xmlns:a16="http://schemas.microsoft.com/office/drawing/2014/main" id="{5421E3BA-1E49-4981-C5CD-D816CAB5B4A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Freeform: Shape 32">
              <a:extLst>
                <a:ext uri="{FF2B5EF4-FFF2-40B4-BE49-F238E27FC236}">
                  <a16:creationId xmlns:a16="http://schemas.microsoft.com/office/drawing/2014/main" id="{3BC676BE-58E7-AF73-92E3-8DAE6F9DA816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Freeform: Shape 33">
              <a:extLst>
                <a:ext uri="{FF2B5EF4-FFF2-40B4-BE49-F238E27FC236}">
                  <a16:creationId xmlns:a16="http://schemas.microsoft.com/office/drawing/2014/main" id="{57F6456E-4B77-C1AD-897E-A69DEAF17928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Freeform: Shape 34">
              <a:extLst>
                <a:ext uri="{FF2B5EF4-FFF2-40B4-BE49-F238E27FC236}">
                  <a16:creationId xmlns:a16="http://schemas.microsoft.com/office/drawing/2014/main" id="{05B80ACD-F8EE-B922-BFBA-EB143DE0F003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Freeform: Shape 35">
              <a:extLst>
                <a:ext uri="{FF2B5EF4-FFF2-40B4-BE49-F238E27FC236}">
                  <a16:creationId xmlns:a16="http://schemas.microsoft.com/office/drawing/2014/main" id="{41CABF07-540E-3270-FCC1-C553FEE5D985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: Shape 36">
              <a:extLst>
                <a:ext uri="{FF2B5EF4-FFF2-40B4-BE49-F238E27FC236}">
                  <a16:creationId xmlns:a16="http://schemas.microsoft.com/office/drawing/2014/main" id="{5CAF860E-10DF-A00E-B4AE-ADF2EB5893D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: Shape 37">
              <a:extLst>
                <a:ext uri="{FF2B5EF4-FFF2-40B4-BE49-F238E27FC236}">
                  <a16:creationId xmlns:a16="http://schemas.microsoft.com/office/drawing/2014/main" id="{2B74F649-A4B8-3B47-A773-E87204CF3DB8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Freeform: Shape 38">
              <a:extLst>
                <a:ext uri="{FF2B5EF4-FFF2-40B4-BE49-F238E27FC236}">
                  <a16:creationId xmlns:a16="http://schemas.microsoft.com/office/drawing/2014/main" id="{E07E0ED0-48FE-44B2-F365-46489AEB74C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186" name="Picture 185">
            <a:extLst>
              <a:ext uri="{FF2B5EF4-FFF2-40B4-BE49-F238E27FC236}">
                <a16:creationId xmlns:a16="http://schemas.microsoft.com/office/drawing/2014/main" id="{B5473D2F-232F-05E2-B28F-BEA32E9017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419B518-FFD0-127A-2243-AFE47CA0F8FD}"/>
              </a:ext>
            </a:extLst>
          </p:cNvPr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CA46328-B1E1-AACA-3FC5-A911E8DB6170}"/>
                </a:ext>
              </a:extLst>
            </p:cNvPr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7600DB47-3229-EEA4-B026-1A8714A76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90" name="Slide Number Placeholder 9">
            <a:extLst>
              <a:ext uri="{FF2B5EF4-FFF2-40B4-BE49-F238E27FC236}">
                <a16:creationId xmlns:a16="http://schemas.microsoft.com/office/drawing/2014/main" id="{6F8B4AEC-44E1-D729-39E4-87485214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300" y="64452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B6AAF44-B65B-D2E0-1D3D-F2EE801DF605}"/>
              </a:ext>
            </a:extLst>
          </p:cNvPr>
          <p:cNvSpPr txBox="1"/>
          <p:nvPr/>
        </p:nvSpPr>
        <p:spPr>
          <a:xfrm>
            <a:off x="2698667" y="4302091"/>
            <a:ext cx="63900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VII - A</a:t>
            </a:r>
          </a:p>
          <a:p>
            <a:pPr algn="ctr"/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Dr. Prerna Mishra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36787C0-D088-F851-40B1-E352B032CFE0}"/>
              </a:ext>
            </a:extLst>
          </p:cNvPr>
          <p:cNvSpPr txBox="1"/>
          <p:nvPr/>
        </p:nvSpPr>
        <p:spPr>
          <a:xfrm>
            <a:off x="5712390" y="3466849"/>
            <a:ext cx="639009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Gargi </a:t>
            </a:r>
            <a:r>
              <a:rPr lang="en-US" altLang="ko-KR" sz="20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Balamwar</a:t>
            </a:r>
            <a:r>
              <a:rPr lang="en-US" altLang="ko-KR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|  23070521053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200775"/>
            <a:ext cx="110490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7602" y="2521582"/>
            <a:ext cx="2619375" cy="1544835"/>
          </a:xfrm>
          <a:prstGeom prst="roundRect">
            <a:avLst>
              <a:gd name="adj" fmla="val 61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07477" y="2521582"/>
            <a:ext cx="2619375" cy="1544835"/>
          </a:xfrm>
          <a:prstGeom prst="roundRect">
            <a:avLst>
              <a:gd name="adj" fmla="val 61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352" y="2521582"/>
            <a:ext cx="2619375" cy="1544835"/>
          </a:xfrm>
          <a:prstGeom prst="roundRect">
            <a:avLst>
              <a:gd name="adj" fmla="val 61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27227" y="2521582"/>
            <a:ext cx="2619375" cy="1544835"/>
          </a:xfrm>
          <a:prstGeom prst="roundRect">
            <a:avLst>
              <a:gd name="adj" fmla="val 61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7602" y="2521582"/>
            <a:ext cx="2619375" cy="381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7477" y="2521582"/>
            <a:ext cx="261937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352" y="2521582"/>
            <a:ext cx="261937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27227" y="2521582"/>
            <a:ext cx="2619375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" y="381000"/>
            <a:ext cx="677465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Cinzel"/>
              </a:rPr>
              <a:t>SYMBIOSIS INSTITUTE OF TECHNOLOGY, NAGPUR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791" y="1122164"/>
            <a:ext cx="6865662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0" i="0" u="none" dirty="0">
                <a:solidFill>
                  <a:srgbClr val="64748B"/>
                </a:solidFill>
                <a:latin typeface="Montserrat"/>
              </a:rPr>
              <a:t>Structural road-map of the multimodal neurodegenerative risk classification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102" y="2788282"/>
            <a:ext cx="27979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991B1B"/>
                </a:solidFill>
                <a:latin typeface="Montserrat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102" y="3188332"/>
            <a:ext cx="29378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Montserrat"/>
              </a:rPr>
              <a:t>Problem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102" y="3464557"/>
            <a:ext cx="23336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Montserrat"/>
              </a:rPr>
              <a:t>Dementia diagnostic gap and unimodal limitations.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7977" y="2788282"/>
            <a:ext cx="27979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0284C7"/>
                </a:solidFill>
                <a:latin typeface="Montserra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7977" y="3188332"/>
            <a:ext cx="29378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Montserrat"/>
              </a:rPr>
              <a:t>Research Initiatives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7977" y="3464557"/>
            <a:ext cx="23336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Montserrat"/>
              </a:rPr>
              <a:t>Cross-modal attention on OASIS-1 &amp; OASIS-2 cohorts.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852" y="2788282"/>
            <a:ext cx="27979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059669"/>
                </a:solidFill>
                <a:latin typeface="Montserrat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7852" y="3188332"/>
            <a:ext cx="29378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Montserrat"/>
              </a:rPr>
              <a:t>Existing Solutions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7852" y="3464557"/>
            <a:ext cx="23336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Montserrat"/>
              </a:rPr>
              <a:t>Unimodal 3D CNNs and basic late-fusion baselines.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727" y="2788282"/>
            <a:ext cx="27979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2550" b="1" i="0" u="none">
                <a:solidFill>
                  <a:srgbClr val="D97706"/>
                </a:solidFill>
                <a:latin typeface="Montserra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7777" y="3178807"/>
            <a:ext cx="29378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Montserrat"/>
              </a:rPr>
              <a:t>Proposed Alternative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727" y="3464557"/>
            <a:ext cx="23336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Montserrat"/>
              </a:rPr>
              <a:t>Interpretable XAI framework &amp; cross-cohort results.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151ED3-310A-8F85-FC89-D2F79C4541D3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B91704F-4C22-DB12-401F-25CDB67C2281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8699326-43F0-0615-E054-B7FB19C92036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33" name="Freeform: Shape 4">
                <a:extLst>
                  <a:ext uri="{FF2B5EF4-FFF2-40B4-BE49-F238E27FC236}">
                    <a16:creationId xmlns:a16="http://schemas.microsoft.com/office/drawing/2014/main" id="{FC4BFCE1-C054-C7B1-B31E-E8DDB682173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5">
                <a:extLst>
                  <a:ext uri="{FF2B5EF4-FFF2-40B4-BE49-F238E27FC236}">
                    <a16:creationId xmlns:a16="http://schemas.microsoft.com/office/drawing/2014/main" id="{B2CD2B49-D874-DFD1-B672-F492FDC64AD3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6">
                <a:extLst>
                  <a:ext uri="{FF2B5EF4-FFF2-40B4-BE49-F238E27FC236}">
                    <a16:creationId xmlns:a16="http://schemas.microsoft.com/office/drawing/2014/main" id="{FF6283B1-6235-BE66-4338-0F2B047E079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7">
                <a:extLst>
                  <a:ext uri="{FF2B5EF4-FFF2-40B4-BE49-F238E27FC236}">
                    <a16:creationId xmlns:a16="http://schemas.microsoft.com/office/drawing/2014/main" id="{7E7B80BA-FFD6-C272-2E37-EE68B766A848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8">
                <a:extLst>
                  <a:ext uri="{FF2B5EF4-FFF2-40B4-BE49-F238E27FC236}">
                    <a16:creationId xmlns:a16="http://schemas.microsoft.com/office/drawing/2014/main" id="{C6BC50F4-EFA1-0734-9EA1-8D1C0576E78D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9">
                <a:extLst>
                  <a:ext uri="{FF2B5EF4-FFF2-40B4-BE49-F238E27FC236}">
                    <a16:creationId xmlns:a16="http://schemas.microsoft.com/office/drawing/2014/main" id="{5611CC86-FA8D-9D98-DF4E-FA34900FC3F6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10">
                <a:extLst>
                  <a:ext uri="{FF2B5EF4-FFF2-40B4-BE49-F238E27FC236}">
                    <a16:creationId xmlns:a16="http://schemas.microsoft.com/office/drawing/2014/main" id="{2120421E-88EC-6640-0D3D-E570CC17F5B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11">
                <a:extLst>
                  <a:ext uri="{FF2B5EF4-FFF2-40B4-BE49-F238E27FC236}">
                    <a16:creationId xmlns:a16="http://schemas.microsoft.com/office/drawing/2014/main" id="{A1069A5F-EA3A-B919-1993-2A6B5728ADD5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12">
                <a:extLst>
                  <a:ext uri="{FF2B5EF4-FFF2-40B4-BE49-F238E27FC236}">
                    <a16:creationId xmlns:a16="http://schemas.microsoft.com/office/drawing/2014/main" id="{4CAA5FFD-F4EC-99AC-152D-3B123D3A1A5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13">
                <a:extLst>
                  <a:ext uri="{FF2B5EF4-FFF2-40B4-BE49-F238E27FC236}">
                    <a16:creationId xmlns:a16="http://schemas.microsoft.com/office/drawing/2014/main" id="{BD4585A1-FCF4-7DAF-391A-89A3F6F0417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14">
                <a:extLst>
                  <a:ext uri="{FF2B5EF4-FFF2-40B4-BE49-F238E27FC236}">
                    <a16:creationId xmlns:a16="http://schemas.microsoft.com/office/drawing/2014/main" id="{F52FE469-AAEE-C69A-7545-6262AB84C843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15">
                <a:extLst>
                  <a:ext uri="{FF2B5EF4-FFF2-40B4-BE49-F238E27FC236}">
                    <a16:creationId xmlns:a16="http://schemas.microsoft.com/office/drawing/2014/main" id="{74E99B23-2EC4-2C36-1DA8-ABDD580D80D2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16">
                <a:extLst>
                  <a:ext uri="{FF2B5EF4-FFF2-40B4-BE49-F238E27FC236}">
                    <a16:creationId xmlns:a16="http://schemas.microsoft.com/office/drawing/2014/main" id="{CAC95658-E200-7181-3D12-4B15BDFBD82D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17">
                <a:extLst>
                  <a:ext uri="{FF2B5EF4-FFF2-40B4-BE49-F238E27FC236}">
                    <a16:creationId xmlns:a16="http://schemas.microsoft.com/office/drawing/2014/main" id="{C42DC3BF-C549-3D61-8EEC-671DBC453E75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8">
                <a:extLst>
                  <a:ext uri="{FF2B5EF4-FFF2-40B4-BE49-F238E27FC236}">
                    <a16:creationId xmlns:a16="http://schemas.microsoft.com/office/drawing/2014/main" id="{15760985-421E-0DB0-EAEC-08700204CFC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9">
                <a:extLst>
                  <a:ext uri="{FF2B5EF4-FFF2-40B4-BE49-F238E27FC236}">
                    <a16:creationId xmlns:a16="http://schemas.microsoft.com/office/drawing/2014/main" id="{3032E66D-1AF7-AB34-A599-267C8E12322D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20">
                <a:extLst>
                  <a:ext uri="{FF2B5EF4-FFF2-40B4-BE49-F238E27FC236}">
                    <a16:creationId xmlns:a16="http://schemas.microsoft.com/office/drawing/2014/main" id="{D9B21E69-9A26-FA18-4A84-1D3A3348BD0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21">
                <a:extLst>
                  <a:ext uri="{FF2B5EF4-FFF2-40B4-BE49-F238E27FC236}">
                    <a16:creationId xmlns:a16="http://schemas.microsoft.com/office/drawing/2014/main" id="{8D127CB3-0A61-9137-29C9-A0EA7A9F571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22">
                <a:extLst>
                  <a:ext uri="{FF2B5EF4-FFF2-40B4-BE49-F238E27FC236}">
                    <a16:creationId xmlns:a16="http://schemas.microsoft.com/office/drawing/2014/main" id="{1FB6D840-AE94-BB38-FF3B-2F91AA1DD9B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23">
                <a:extLst>
                  <a:ext uri="{FF2B5EF4-FFF2-40B4-BE49-F238E27FC236}">
                    <a16:creationId xmlns:a16="http://schemas.microsoft.com/office/drawing/2014/main" id="{5FB39A95-F6A8-CAC1-D5E7-FDD13B282480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24">
                <a:extLst>
                  <a:ext uri="{FF2B5EF4-FFF2-40B4-BE49-F238E27FC236}">
                    <a16:creationId xmlns:a16="http://schemas.microsoft.com/office/drawing/2014/main" id="{29F97E85-5564-FE78-AD32-1D93E569D50F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25">
                <a:extLst>
                  <a:ext uri="{FF2B5EF4-FFF2-40B4-BE49-F238E27FC236}">
                    <a16:creationId xmlns:a16="http://schemas.microsoft.com/office/drawing/2014/main" id="{8DC24E94-48FA-D223-679F-C2515C2CA5C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26">
                <a:extLst>
                  <a:ext uri="{FF2B5EF4-FFF2-40B4-BE49-F238E27FC236}">
                    <a16:creationId xmlns:a16="http://schemas.microsoft.com/office/drawing/2014/main" id="{F91172AA-EFE4-E48C-3B6A-CF1F23CC5548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27">
                <a:extLst>
                  <a:ext uri="{FF2B5EF4-FFF2-40B4-BE49-F238E27FC236}">
                    <a16:creationId xmlns:a16="http://schemas.microsoft.com/office/drawing/2014/main" id="{2AF58029-D833-D40E-1B18-A32446161448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8">
                <a:extLst>
                  <a:ext uri="{FF2B5EF4-FFF2-40B4-BE49-F238E27FC236}">
                    <a16:creationId xmlns:a16="http://schemas.microsoft.com/office/drawing/2014/main" id="{23FFD444-6196-B346-D666-AF0AE5E038C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9">
                <a:extLst>
                  <a:ext uri="{FF2B5EF4-FFF2-40B4-BE49-F238E27FC236}">
                    <a16:creationId xmlns:a16="http://schemas.microsoft.com/office/drawing/2014/main" id="{B09F370D-0EA3-DCCF-D98B-1CFAD4E1486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30">
                <a:extLst>
                  <a:ext uri="{FF2B5EF4-FFF2-40B4-BE49-F238E27FC236}">
                    <a16:creationId xmlns:a16="http://schemas.microsoft.com/office/drawing/2014/main" id="{1D58F8A7-70DD-6261-9EB6-D98060B2071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31">
                <a:extLst>
                  <a:ext uri="{FF2B5EF4-FFF2-40B4-BE49-F238E27FC236}">
                    <a16:creationId xmlns:a16="http://schemas.microsoft.com/office/drawing/2014/main" id="{AA771B3D-1FB8-3209-53A2-138EF07B931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32">
                <a:extLst>
                  <a:ext uri="{FF2B5EF4-FFF2-40B4-BE49-F238E27FC236}">
                    <a16:creationId xmlns:a16="http://schemas.microsoft.com/office/drawing/2014/main" id="{3D3C002F-450D-80A3-C7D9-58BA7C8F77E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33">
                <a:extLst>
                  <a:ext uri="{FF2B5EF4-FFF2-40B4-BE49-F238E27FC236}">
                    <a16:creationId xmlns:a16="http://schemas.microsoft.com/office/drawing/2014/main" id="{9140D4EA-DBEE-4DCC-1AF2-AA5EDEA57BBD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34">
                <a:extLst>
                  <a:ext uri="{FF2B5EF4-FFF2-40B4-BE49-F238E27FC236}">
                    <a16:creationId xmlns:a16="http://schemas.microsoft.com/office/drawing/2014/main" id="{B7DCB9FC-5468-A87C-DA7D-8AF430F54ADB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35">
                <a:extLst>
                  <a:ext uri="{FF2B5EF4-FFF2-40B4-BE49-F238E27FC236}">
                    <a16:creationId xmlns:a16="http://schemas.microsoft.com/office/drawing/2014/main" id="{C03EE75A-242C-23B4-2EAA-A3EF384FBA14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36">
                <a:extLst>
                  <a:ext uri="{FF2B5EF4-FFF2-40B4-BE49-F238E27FC236}">
                    <a16:creationId xmlns:a16="http://schemas.microsoft.com/office/drawing/2014/main" id="{7918D747-E3D9-825B-87CA-140294A930E1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37">
                <a:extLst>
                  <a:ext uri="{FF2B5EF4-FFF2-40B4-BE49-F238E27FC236}">
                    <a16:creationId xmlns:a16="http://schemas.microsoft.com/office/drawing/2014/main" id="{3A525367-C0BA-4050-3D33-89C02DEB54AB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8">
                <a:extLst>
                  <a:ext uri="{FF2B5EF4-FFF2-40B4-BE49-F238E27FC236}">
                    <a16:creationId xmlns:a16="http://schemas.microsoft.com/office/drawing/2014/main" id="{983DB4B6-6E5D-EBF4-DA32-BE2089E4843B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443A58B-DE2A-DE20-1EF7-02120A454C66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69" name="Freeform: Shape 4">
              <a:extLst>
                <a:ext uri="{FF2B5EF4-FFF2-40B4-BE49-F238E27FC236}">
                  <a16:creationId xmlns:a16="http://schemas.microsoft.com/office/drawing/2014/main" id="{75E385C5-18CB-3213-3733-2375A98BBFA2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5">
              <a:extLst>
                <a:ext uri="{FF2B5EF4-FFF2-40B4-BE49-F238E27FC236}">
                  <a16:creationId xmlns:a16="http://schemas.microsoft.com/office/drawing/2014/main" id="{FB2D8835-9582-5C5B-6869-F6DAE5E9EF68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6">
              <a:extLst>
                <a:ext uri="{FF2B5EF4-FFF2-40B4-BE49-F238E27FC236}">
                  <a16:creationId xmlns:a16="http://schemas.microsoft.com/office/drawing/2014/main" id="{489686A7-4B48-7B90-0AB4-758FF27CA905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7">
              <a:extLst>
                <a:ext uri="{FF2B5EF4-FFF2-40B4-BE49-F238E27FC236}">
                  <a16:creationId xmlns:a16="http://schemas.microsoft.com/office/drawing/2014/main" id="{02B5E3EA-111A-EE04-394D-D762EFB42028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8">
              <a:extLst>
                <a:ext uri="{FF2B5EF4-FFF2-40B4-BE49-F238E27FC236}">
                  <a16:creationId xmlns:a16="http://schemas.microsoft.com/office/drawing/2014/main" id="{EABBA271-927C-D3D7-7EA6-7CBE5DA22657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9">
              <a:extLst>
                <a:ext uri="{FF2B5EF4-FFF2-40B4-BE49-F238E27FC236}">
                  <a16:creationId xmlns:a16="http://schemas.microsoft.com/office/drawing/2014/main" id="{20773492-A05F-28C3-4810-1F9C52FD1CF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10">
              <a:extLst>
                <a:ext uri="{FF2B5EF4-FFF2-40B4-BE49-F238E27FC236}">
                  <a16:creationId xmlns:a16="http://schemas.microsoft.com/office/drawing/2014/main" id="{28117D70-A920-471E-9971-DC72BB0A7E3C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11">
              <a:extLst>
                <a:ext uri="{FF2B5EF4-FFF2-40B4-BE49-F238E27FC236}">
                  <a16:creationId xmlns:a16="http://schemas.microsoft.com/office/drawing/2014/main" id="{D36DF2A4-3DC2-E3F5-CDD7-B7CFBCD26713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12">
              <a:extLst>
                <a:ext uri="{FF2B5EF4-FFF2-40B4-BE49-F238E27FC236}">
                  <a16:creationId xmlns:a16="http://schemas.microsoft.com/office/drawing/2014/main" id="{96A2C169-E244-A74E-2079-829DE7E8150D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13">
              <a:extLst>
                <a:ext uri="{FF2B5EF4-FFF2-40B4-BE49-F238E27FC236}">
                  <a16:creationId xmlns:a16="http://schemas.microsoft.com/office/drawing/2014/main" id="{7D60096D-ED8C-C118-BA36-5C22D05A5DE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14">
              <a:extLst>
                <a:ext uri="{FF2B5EF4-FFF2-40B4-BE49-F238E27FC236}">
                  <a16:creationId xmlns:a16="http://schemas.microsoft.com/office/drawing/2014/main" id="{54CB2F40-C243-FCC7-0EE7-52CB5B562AB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15">
              <a:extLst>
                <a:ext uri="{FF2B5EF4-FFF2-40B4-BE49-F238E27FC236}">
                  <a16:creationId xmlns:a16="http://schemas.microsoft.com/office/drawing/2014/main" id="{1975BE58-9A18-2CD6-F8C0-389B1AFC070C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16">
              <a:extLst>
                <a:ext uri="{FF2B5EF4-FFF2-40B4-BE49-F238E27FC236}">
                  <a16:creationId xmlns:a16="http://schemas.microsoft.com/office/drawing/2014/main" id="{13DD85E3-F02A-9A99-27CE-0C0D703FF67C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17">
              <a:extLst>
                <a:ext uri="{FF2B5EF4-FFF2-40B4-BE49-F238E27FC236}">
                  <a16:creationId xmlns:a16="http://schemas.microsoft.com/office/drawing/2014/main" id="{2BDA2E2E-04C6-C070-774C-F42B528AE4D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18">
              <a:extLst>
                <a:ext uri="{FF2B5EF4-FFF2-40B4-BE49-F238E27FC236}">
                  <a16:creationId xmlns:a16="http://schemas.microsoft.com/office/drawing/2014/main" id="{4454A3C2-0881-2ECB-35DD-0EA863B6A79C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19">
              <a:extLst>
                <a:ext uri="{FF2B5EF4-FFF2-40B4-BE49-F238E27FC236}">
                  <a16:creationId xmlns:a16="http://schemas.microsoft.com/office/drawing/2014/main" id="{459EAC60-4014-EF98-B58C-052D73FB62D4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20">
              <a:extLst>
                <a:ext uri="{FF2B5EF4-FFF2-40B4-BE49-F238E27FC236}">
                  <a16:creationId xmlns:a16="http://schemas.microsoft.com/office/drawing/2014/main" id="{B7EE2D88-842B-6766-DEB2-214DA2E1DC37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21">
              <a:extLst>
                <a:ext uri="{FF2B5EF4-FFF2-40B4-BE49-F238E27FC236}">
                  <a16:creationId xmlns:a16="http://schemas.microsoft.com/office/drawing/2014/main" id="{14B2C818-1366-98A9-90C3-DDB15D524CF7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22">
              <a:extLst>
                <a:ext uri="{FF2B5EF4-FFF2-40B4-BE49-F238E27FC236}">
                  <a16:creationId xmlns:a16="http://schemas.microsoft.com/office/drawing/2014/main" id="{D674D0C6-101C-F059-9770-E66F13D2178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23">
              <a:extLst>
                <a:ext uri="{FF2B5EF4-FFF2-40B4-BE49-F238E27FC236}">
                  <a16:creationId xmlns:a16="http://schemas.microsoft.com/office/drawing/2014/main" id="{4BDE7C35-2AA4-06FF-6851-43B53DCB6756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24">
              <a:extLst>
                <a:ext uri="{FF2B5EF4-FFF2-40B4-BE49-F238E27FC236}">
                  <a16:creationId xmlns:a16="http://schemas.microsoft.com/office/drawing/2014/main" id="{BA1B2A4A-78E0-E132-85E1-C655BDEE03D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25">
              <a:extLst>
                <a:ext uri="{FF2B5EF4-FFF2-40B4-BE49-F238E27FC236}">
                  <a16:creationId xmlns:a16="http://schemas.microsoft.com/office/drawing/2014/main" id="{148CAB44-4A15-D558-5669-CE4FE1E253C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26">
              <a:extLst>
                <a:ext uri="{FF2B5EF4-FFF2-40B4-BE49-F238E27FC236}">
                  <a16:creationId xmlns:a16="http://schemas.microsoft.com/office/drawing/2014/main" id="{6650BE76-434F-B33E-DFB2-0D881F84F1C0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27">
              <a:extLst>
                <a:ext uri="{FF2B5EF4-FFF2-40B4-BE49-F238E27FC236}">
                  <a16:creationId xmlns:a16="http://schemas.microsoft.com/office/drawing/2014/main" id="{0B1DBE9C-9BE5-C23F-F466-5C67C084BF3E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: Shape 28">
              <a:extLst>
                <a:ext uri="{FF2B5EF4-FFF2-40B4-BE49-F238E27FC236}">
                  <a16:creationId xmlns:a16="http://schemas.microsoft.com/office/drawing/2014/main" id="{47BFFF2E-42D3-2120-0762-2C0DB9202FEB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: Shape 29">
              <a:extLst>
                <a:ext uri="{FF2B5EF4-FFF2-40B4-BE49-F238E27FC236}">
                  <a16:creationId xmlns:a16="http://schemas.microsoft.com/office/drawing/2014/main" id="{5B64B2D1-4594-0DFA-F7C9-BA2BCFEA9DF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: Shape 30">
              <a:extLst>
                <a:ext uri="{FF2B5EF4-FFF2-40B4-BE49-F238E27FC236}">
                  <a16:creationId xmlns:a16="http://schemas.microsoft.com/office/drawing/2014/main" id="{66059BF9-762E-C822-5DEA-38076FEAA09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: Shape 31">
              <a:extLst>
                <a:ext uri="{FF2B5EF4-FFF2-40B4-BE49-F238E27FC236}">
                  <a16:creationId xmlns:a16="http://schemas.microsoft.com/office/drawing/2014/main" id="{EC15CF82-5648-5AC3-BE3C-11754859B612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Freeform: Shape 32">
              <a:extLst>
                <a:ext uri="{FF2B5EF4-FFF2-40B4-BE49-F238E27FC236}">
                  <a16:creationId xmlns:a16="http://schemas.microsoft.com/office/drawing/2014/main" id="{7B5C4DBB-C296-93EF-2ECD-F321F9B00BF4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Freeform: Shape 33">
              <a:extLst>
                <a:ext uri="{FF2B5EF4-FFF2-40B4-BE49-F238E27FC236}">
                  <a16:creationId xmlns:a16="http://schemas.microsoft.com/office/drawing/2014/main" id="{A1DA23A9-872E-8B30-8A0D-D6F160D762B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: Shape 34">
              <a:extLst>
                <a:ext uri="{FF2B5EF4-FFF2-40B4-BE49-F238E27FC236}">
                  <a16:creationId xmlns:a16="http://schemas.microsoft.com/office/drawing/2014/main" id="{9D617334-8CBE-C1D6-B464-26AEB040A97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: Shape 35">
              <a:extLst>
                <a:ext uri="{FF2B5EF4-FFF2-40B4-BE49-F238E27FC236}">
                  <a16:creationId xmlns:a16="http://schemas.microsoft.com/office/drawing/2014/main" id="{00766CFB-9194-EE4C-5522-EC2E2029266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: Shape 36">
              <a:extLst>
                <a:ext uri="{FF2B5EF4-FFF2-40B4-BE49-F238E27FC236}">
                  <a16:creationId xmlns:a16="http://schemas.microsoft.com/office/drawing/2014/main" id="{0062AB24-34D1-7943-3BFC-01243AEB949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: Shape 37">
              <a:extLst>
                <a:ext uri="{FF2B5EF4-FFF2-40B4-BE49-F238E27FC236}">
                  <a16:creationId xmlns:a16="http://schemas.microsoft.com/office/drawing/2014/main" id="{B205580D-A1E2-72AF-82D7-421C06031CD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Freeform: Shape 38">
              <a:extLst>
                <a:ext uri="{FF2B5EF4-FFF2-40B4-BE49-F238E27FC236}">
                  <a16:creationId xmlns:a16="http://schemas.microsoft.com/office/drawing/2014/main" id="{9160BF4C-C732-CD1B-2FF8-0AD7613D52E5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70C1D9D-2EB9-3CB1-5324-3E2208B6E05C}"/>
              </a:ext>
            </a:extLst>
          </p:cNvPr>
          <p:cNvSpPr/>
          <p:nvPr/>
        </p:nvSpPr>
        <p:spPr>
          <a:xfrm>
            <a:off x="-6974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C57AE740-8318-B1B1-B257-A821688C7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90413" y="123998"/>
            <a:ext cx="2601674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Flow</a:t>
            </a:r>
          </a:p>
        </p:txBody>
      </p:sp>
      <p:sp>
        <p:nvSpPr>
          <p:cNvPr id="106" name="Slide Number Placeholder 4">
            <a:extLst>
              <a:ext uri="{FF2B5EF4-FFF2-40B4-BE49-F238E27FC236}">
                <a16:creationId xmlns:a16="http://schemas.microsoft.com/office/drawing/2014/main" id="{14888226-E935-2B08-B93E-E9DA840F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200775"/>
            <a:ext cx="110490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500" y="1228725"/>
            <a:ext cx="5908327" cy="4743450"/>
          </a:xfrm>
          <a:prstGeom prst="roundRect">
            <a:avLst>
              <a:gd name="adj" fmla="val 2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228725"/>
            <a:ext cx="38100" cy="474345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381000"/>
            <a:ext cx="9417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Montserrat"/>
              </a:rPr>
              <a:t>01. PROBLEM STATEMENTS &amp; CLINICAL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2676525"/>
            <a:ext cx="705459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The Core Diagnostic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057525"/>
            <a:ext cx="5470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991B1B"/>
                </a:solidFill>
                <a:latin typeface="Montserrat"/>
              </a:rPr>
              <a:t>Isolated Vision Models:</a:t>
            </a:r>
            <a:r>
              <a:rPr sz="1125" b="0" i="0" u="none">
                <a:solidFill>
                  <a:srgbClr val="334155"/>
                </a:solidFill>
                <a:latin typeface="Montserrat"/>
              </a:rPr>
              <a:t> Misclassify benign age-related brain atrophy as cognitive dementia.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590925"/>
            <a:ext cx="5470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991B1B"/>
                </a:solidFill>
                <a:latin typeface="Montserrat"/>
              </a:rPr>
              <a:t>Tabular Only Scoring:</a:t>
            </a:r>
            <a:r>
              <a:rPr sz="1125" b="0" i="0" u="none">
                <a:solidFill>
                  <a:srgbClr val="334155"/>
                </a:solidFill>
                <a:latin typeface="Montserrat"/>
              </a:rPr>
              <a:t> MMSE scores miss early preclinical physical neurodegeneration before symptom onset.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4124325"/>
            <a:ext cx="5470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991B1B"/>
                </a:solidFill>
                <a:latin typeface="Montserrat"/>
              </a:rPr>
              <a:t>Target Goal:</a:t>
            </a:r>
            <a:r>
              <a:rPr sz="1125" b="0" i="0" u="none">
                <a:solidFill>
                  <a:srgbClr val="334155"/>
                </a:solidFill>
                <a:latin typeface="Montserrat"/>
              </a:rPr>
              <a:t> Accurately classify 4-tier CDR stages (0, 0.5, 1, 2) without longitudinal data leakage.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84CA16-B018-0988-BCB8-2F75C7DA74B5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C33226-E928-AB60-2A30-4BC46CD7438F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5910CF6-E8F7-60AD-AAC8-1DEF27EB85F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22" name="Freeform: Shape 4">
                <a:extLst>
                  <a:ext uri="{FF2B5EF4-FFF2-40B4-BE49-F238E27FC236}">
                    <a16:creationId xmlns:a16="http://schemas.microsoft.com/office/drawing/2014/main" id="{A0F50E3B-6A3A-C264-DE39-CDB10628AEF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5">
                <a:extLst>
                  <a:ext uri="{FF2B5EF4-FFF2-40B4-BE49-F238E27FC236}">
                    <a16:creationId xmlns:a16="http://schemas.microsoft.com/office/drawing/2014/main" id="{883E46B6-B6E6-C349-66A8-52E1FD0A8185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6">
                <a:extLst>
                  <a:ext uri="{FF2B5EF4-FFF2-40B4-BE49-F238E27FC236}">
                    <a16:creationId xmlns:a16="http://schemas.microsoft.com/office/drawing/2014/main" id="{3E3698E2-2EAE-15DE-E13F-2D2FB0B2713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7">
                <a:extLst>
                  <a:ext uri="{FF2B5EF4-FFF2-40B4-BE49-F238E27FC236}">
                    <a16:creationId xmlns:a16="http://schemas.microsoft.com/office/drawing/2014/main" id="{1781771B-CA21-6D0D-A0C4-0481B1D5FA4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8">
                <a:extLst>
                  <a:ext uri="{FF2B5EF4-FFF2-40B4-BE49-F238E27FC236}">
                    <a16:creationId xmlns:a16="http://schemas.microsoft.com/office/drawing/2014/main" id="{6F2966B8-C7B3-2737-89B4-6DFA97886B0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9">
                <a:extLst>
                  <a:ext uri="{FF2B5EF4-FFF2-40B4-BE49-F238E27FC236}">
                    <a16:creationId xmlns:a16="http://schemas.microsoft.com/office/drawing/2014/main" id="{734081DB-4D87-718B-F391-F2C6947C52B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0">
                <a:extLst>
                  <a:ext uri="{FF2B5EF4-FFF2-40B4-BE49-F238E27FC236}">
                    <a16:creationId xmlns:a16="http://schemas.microsoft.com/office/drawing/2014/main" id="{8F97C94E-663F-96D3-353F-9681E9353E9C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1">
                <a:extLst>
                  <a:ext uri="{FF2B5EF4-FFF2-40B4-BE49-F238E27FC236}">
                    <a16:creationId xmlns:a16="http://schemas.microsoft.com/office/drawing/2014/main" id="{74336757-7F2E-1F78-599F-0FD4658FBDC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2">
                <a:extLst>
                  <a:ext uri="{FF2B5EF4-FFF2-40B4-BE49-F238E27FC236}">
                    <a16:creationId xmlns:a16="http://schemas.microsoft.com/office/drawing/2014/main" id="{B8571834-6242-D927-A3A4-03AC8A73DCE1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13">
                <a:extLst>
                  <a:ext uri="{FF2B5EF4-FFF2-40B4-BE49-F238E27FC236}">
                    <a16:creationId xmlns:a16="http://schemas.microsoft.com/office/drawing/2014/main" id="{77FCDE5C-A8DA-8DF1-1E06-BA006B025F71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14">
                <a:extLst>
                  <a:ext uri="{FF2B5EF4-FFF2-40B4-BE49-F238E27FC236}">
                    <a16:creationId xmlns:a16="http://schemas.microsoft.com/office/drawing/2014/main" id="{C8628621-D43C-6940-ED1B-6A942EFCC97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15">
                <a:extLst>
                  <a:ext uri="{FF2B5EF4-FFF2-40B4-BE49-F238E27FC236}">
                    <a16:creationId xmlns:a16="http://schemas.microsoft.com/office/drawing/2014/main" id="{14903651-C3D4-E5E8-3456-BB09834B1A2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16">
                <a:extLst>
                  <a:ext uri="{FF2B5EF4-FFF2-40B4-BE49-F238E27FC236}">
                    <a16:creationId xmlns:a16="http://schemas.microsoft.com/office/drawing/2014/main" id="{E975B367-6B51-F233-FB73-F32CF37A7C8D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7">
                <a:extLst>
                  <a:ext uri="{FF2B5EF4-FFF2-40B4-BE49-F238E27FC236}">
                    <a16:creationId xmlns:a16="http://schemas.microsoft.com/office/drawing/2014/main" id="{90AF527A-78A6-CAE6-9E46-B673F56F4BE4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18">
                <a:extLst>
                  <a:ext uri="{FF2B5EF4-FFF2-40B4-BE49-F238E27FC236}">
                    <a16:creationId xmlns:a16="http://schemas.microsoft.com/office/drawing/2014/main" id="{7C7CB2FF-0CFD-E7E7-EFC7-1F9A5D33F12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19">
                <a:extLst>
                  <a:ext uri="{FF2B5EF4-FFF2-40B4-BE49-F238E27FC236}">
                    <a16:creationId xmlns:a16="http://schemas.microsoft.com/office/drawing/2014/main" id="{82308B81-D509-F106-5964-95C33B213E2E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0">
                <a:extLst>
                  <a:ext uri="{FF2B5EF4-FFF2-40B4-BE49-F238E27FC236}">
                    <a16:creationId xmlns:a16="http://schemas.microsoft.com/office/drawing/2014/main" id="{6F737BCB-88DE-4046-0DAF-50BCD4E0967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1">
                <a:extLst>
                  <a:ext uri="{FF2B5EF4-FFF2-40B4-BE49-F238E27FC236}">
                    <a16:creationId xmlns:a16="http://schemas.microsoft.com/office/drawing/2014/main" id="{81FD4180-0BD3-2805-BF95-D3D9C19911E6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2">
                <a:extLst>
                  <a:ext uri="{FF2B5EF4-FFF2-40B4-BE49-F238E27FC236}">
                    <a16:creationId xmlns:a16="http://schemas.microsoft.com/office/drawing/2014/main" id="{0B9E16D4-13FA-09BD-E509-D6C2FCA2A1B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23">
                <a:extLst>
                  <a:ext uri="{FF2B5EF4-FFF2-40B4-BE49-F238E27FC236}">
                    <a16:creationId xmlns:a16="http://schemas.microsoft.com/office/drawing/2014/main" id="{CE0F2C95-DAFE-D49B-D6B8-9C132154BE76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24">
                <a:extLst>
                  <a:ext uri="{FF2B5EF4-FFF2-40B4-BE49-F238E27FC236}">
                    <a16:creationId xmlns:a16="http://schemas.microsoft.com/office/drawing/2014/main" id="{DFAFA094-602D-238E-40B2-2B290C93FC5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25">
                <a:extLst>
                  <a:ext uri="{FF2B5EF4-FFF2-40B4-BE49-F238E27FC236}">
                    <a16:creationId xmlns:a16="http://schemas.microsoft.com/office/drawing/2014/main" id="{FF52E903-CBB3-755B-32E2-6025A6438C1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26">
                <a:extLst>
                  <a:ext uri="{FF2B5EF4-FFF2-40B4-BE49-F238E27FC236}">
                    <a16:creationId xmlns:a16="http://schemas.microsoft.com/office/drawing/2014/main" id="{8E2F691D-46DC-05C4-AC75-AE014136CB9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7">
                <a:extLst>
                  <a:ext uri="{FF2B5EF4-FFF2-40B4-BE49-F238E27FC236}">
                    <a16:creationId xmlns:a16="http://schemas.microsoft.com/office/drawing/2014/main" id="{D68254B9-73B3-4CD8-19C7-D445B225C85D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28">
                <a:extLst>
                  <a:ext uri="{FF2B5EF4-FFF2-40B4-BE49-F238E27FC236}">
                    <a16:creationId xmlns:a16="http://schemas.microsoft.com/office/drawing/2014/main" id="{161EECF0-F5B0-AA53-ADDC-2CE81449DBC7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29">
                <a:extLst>
                  <a:ext uri="{FF2B5EF4-FFF2-40B4-BE49-F238E27FC236}">
                    <a16:creationId xmlns:a16="http://schemas.microsoft.com/office/drawing/2014/main" id="{E1399396-DC92-66A3-4265-C6BBCB86532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0">
                <a:extLst>
                  <a:ext uri="{FF2B5EF4-FFF2-40B4-BE49-F238E27FC236}">
                    <a16:creationId xmlns:a16="http://schemas.microsoft.com/office/drawing/2014/main" id="{4FCDCEBD-B4BD-8677-C5AC-488C130834F4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1">
                <a:extLst>
                  <a:ext uri="{FF2B5EF4-FFF2-40B4-BE49-F238E27FC236}">
                    <a16:creationId xmlns:a16="http://schemas.microsoft.com/office/drawing/2014/main" id="{66636C4C-CB1A-CFB3-3744-793B885189B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2">
                <a:extLst>
                  <a:ext uri="{FF2B5EF4-FFF2-40B4-BE49-F238E27FC236}">
                    <a16:creationId xmlns:a16="http://schemas.microsoft.com/office/drawing/2014/main" id="{F6E6BDE1-D37A-7E78-73D2-F5983FEB7E04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33">
                <a:extLst>
                  <a:ext uri="{FF2B5EF4-FFF2-40B4-BE49-F238E27FC236}">
                    <a16:creationId xmlns:a16="http://schemas.microsoft.com/office/drawing/2014/main" id="{B9B4000F-209A-82F8-436B-88912B13BDE6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34">
                <a:extLst>
                  <a:ext uri="{FF2B5EF4-FFF2-40B4-BE49-F238E27FC236}">
                    <a16:creationId xmlns:a16="http://schemas.microsoft.com/office/drawing/2014/main" id="{91741858-BF24-8961-A318-4368374DDD8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35">
                <a:extLst>
                  <a:ext uri="{FF2B5EF4-FFF2-40B4-BE49-F238E27FC236}">
                    <a16:creationId xmlns:a16="http://schemas.microsoft.com/office/drawing/2014/main" id="{3393B783-0463-B436-9246-F75C8967DB1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36">
                <a:extLst>
                  <a:ext uri="{FF2B5EF4-FFF2-40B4-BE49-F238E27FC236}">
                    <a16:creationId xmlns:a16="http://schemas.microsoft.com/office/drawing/2014/main" id="{B5605F7F-EF91-1127-320B-CE0F76D4C71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37">
                <a:extLst>
                  <a:ext uri="{FF2B5EF4-FFF2-40B4-BE49-F238E27FC236}">
                    <a16:creationId xmlns:a16="http://schemas.microsoft.com/office/drawing/2014/main" id="{A65848CC-27D3-C64D-971D-4051C7C5E3F2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38">
                <a:extLst>
                  <a:ext uri="{FF2B5EF4-FFF2-40B4-BE49-F238E27FC236}">
                    <a16:creationId xmlns:a16="http://schemas.microsoft.com/office/drawing/2014/main" id="{0B72008B-90AE-661E-AD41-F5E2FF5B987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5B235DC-4C26-6B5A-AD34-204FF4A54D8D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58" name="Freeform: Shape 4">
              <a:extLst>
                <a:ext uri="{FF2B5EF4-FFF2-40B4-BE49-F238E27FC236}">
                  <a16:creationId xmlns:a16="http://schemas.microsoft.com/office/drawing/2014/main" id="{D72CC390-49C2-28E9-1EC5-64E044675E7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5">
              <a:extLst>
                <a:ext uri="{FF2B5EF4-FFF2-40B4-BE49-F238E27FC236}">
                  <a16:creationId xmlns:a16="http://schemas.microsoft.com/office/drawing/2014/main" id="{68AA37A3-ECD7-501F-5370-C8F9E1EA69C5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6">
              <a:extLst>
                <a:ext uri="{FF2B5EF4-FFF2-40B4-BE49-F238E27FC236}">
                  <a16:creationId xmlns:a16="http://schemas.microsoft.com/office/drawing/2014/main" id="{73AC923B-0D4A-DBAA-81B9-7BC9241BFF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7">
              <a:extLst>
                <a:ext uri="{FF2B5EF4-FFF2-40B4-BE49-F238E27FC236}">
                  <a16:creationId xmlns:a16="http://schemas.microsoft.com/office/drawing/2014/main" id="{E709CAA4-9331-6CB8-1C31-B84E1BBF94B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8">
              <a:extLst>
                <a:ext uri="{FF2B5EF4-FFF2-40B4-BE49-F238E27FC236}">
                  <a16:creationId xmlns:a16="http://schemas.microsoft.com/office/drawing/2014/main" id="{084F5646-2DF7-25A5-83DB-3B3718AF51FD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9">
              <a:extLst>
                <a:ext uri="{FF2B5EF4-FFF2-40B4-BE49-F238E27FC236}">
                  <a16:creationId xmlns:a16="http://schemas.microsoft.com/office/drawing/2014/main" id="{7AEEE6E1-49E0-9810-4C55-E60183C004B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10">
              <a:extLst>
                <a:ext uri="{FF2B5EF4-FFF2-40B4-BE49-F238E27FC236}">
                  <a16:creationId xmlns:a16="http://schemas.microsoft.com/office/drawing/2014/main" id="{E301B8BB-CCD0-A805-DB3B-1732288BC5E5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11">
              <a:extLst>
                <a:ext uri="{FF2B5EF4-FFF2-40B4-BE49-F238E27FC236}">
                  <a16:creationId xmlns:a16="http://schemas.microsoft.com/office/drawing/2014/main" id="{1BE51111-6229-A8DC-3CDA-5E41A0708435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12">
              <a:extLst>
                <a:ext uri="{FF2B5EF4-FFF2-40B4-BE49-F238E27FC236}">
                  <a16:creationId xmlns:a16="http://schemas.microsoft.com/office/drawing/2014/main" id="{29BD7488-B0A7-D88A-CCD4-8307F63CE7A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13">
              <a:extLst>
                <a:ext uri="{FF2B5EF4-FFF2-40B4-BE49-F238E27FC236}">
                  <a16:creationId xmlns:a16="http://schemas.microsoft.com/office/drawing/2014/main" id="{DA546C6D-63FB-A0B2-D9D8-DAEAA9EC674D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14">
              <a:extLst>
                <a:ext uri="{FF2B5EF4-FFF2-40B4-BE49-F238E27FC236}">
                  <a16:creationId xmlns:a16="http://schemas.microsoft.com/office/drawing/2014/main" id="{F8E7D595-BD0A-89FA-36E8-5480B43E2A54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5275988D-2B8A-C975-4E59-BD80C7E96133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16">
              <a:extLst>
                <a:ext uri="{FF2B5EF4-FFF2-40B4-BE49-F238E27FC236}">
                  <a16:creationId xmlns:a16="http://schemas.microsoft.com/office/drawing/2014/main" id="{3201B75B-5B3C-E4E3-9F69-D0B60835F1F5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17">
              <a:extLst>
                <a:ext uri="{FF2B5EF4-FFF2-40B4-BE49-F238E27FC236}">
                  <a16:creationId xmlns:a16="http://schemas.microsoft.com/office/drawing/2014/main" id="{81C4D0FF-8872-7377-08DE-12D02EA56870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18">
              <a:extLst>
                <a:ext uri="{FF2B5EF4-FFF2-40B4-BE49-F238E27FC236}">
                  <a16:creationId xmlns:a16="http://schemas.microsoft.com/office/drawing/2014/main" id="{6B5D257B-CAAB-0885-3318-A47AB1FC9FA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19">
              <a:extLst>
                <a:ext uri="{FF2B5EF4-FFF2-40B4-BE49-F238E27FC236}">
                  <a16:creationId xmlns:a16="http://schemas.microsoft.com/office/drawing/2014/main" id="{84BBF1FB-CE73-0621-9B1D-701F6698289B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20">
              <a:extLst>
                <a:ext uri="{FF2B5EF4-FFF2-40B4-BE49-F238E27FC236}">
                  <a16:creationId xmlns:a16="http://schemas.microsoft.com/office/drawing/2014/main" id="{09A20D79-6628-900E-AF37-C1D97FC20045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21">
              <a:extLst>
                <a:ext uri="{FF2B5EF4-FFF2-40B4-BE49-F238E27FC236}">
                  <a16:creationId xmlns:a16="http://schemas.microsoft.com/office/drawing/2014/main" id="{D83C51E2-42D0-C39B-E097-FABE2653D443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22">
              <a:extLst>
                <a:ext uri="{FF2B5EF4-FFF2-40B4-BE49-F238E27FC236}">
                  <a16:creationId xmlns:a16="http://schemas.microsoft.com/office/drawing/2014/main" id="{CE81B420-77C7-8375-16D4-422F7C5363F5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23">
              <a:extLst>
                <a:ext uri="{FF2B5EF4-FFF2-40B4-BE49-F238E27FC236}">
                  <a16:creationId xmlns:a16="http://schemas.microsoft.com/office/drawing/2014/main" id="{F11EBAB6-C3B7-D915-4C00-9F06D14B8D02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24">
              <a:extLst>
                <a:ext uri="{FF2B5EF4-FFF2-40B4-BE49-F238E27FC236}">
                  <a16:creationId xmlns:a16="http://schemas.microsoft.com/office/drawing/2014/main" id="{5CE37766-E438-1240-6216-95344C5D0160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25">
              <a:extLst>
                <a:ext uri="{FF2B5EF4-FFF2-40B4-BE49-F238E27FC236}">
                  <a16:creationId xmlns:a16="http://schemas.microsoft.com/office/drawing/2014/main" id="{18F18C80-553A-9238-9D8E-AC5D9736525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26">
              <a:extLst>
                <a:ext uri="{FF2B5EF4-FFF2-40B4-BE49-F238E27FC236}">
                  <a16:creationId xmlns:a16="http://schemas.microsoft.com/office/drawing/2014/main" id="{8438AF94-A208-FBA6-93A3-BF2F9CED6A5D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27">
              <a:extLst>
                <a:ext uri="{FF2B5EF4-FFF2-40B4-BE49-F238E27FC236}">
                  <a16:creationId xmlns:a16="http://schemas.microsoft.com/office/drawing/2014/main" id="{F7E09E13-B16C-293C-B806-CCA884BE3983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28">
              <a:extLst>
                <a:ext uri="{FF2B5EF4-FFF2-40B4-BE49-F238E27FC236}">
                  <a16:creationId xmlns:a16="http://schemas.microsoft.com/office/drawing/2014/main" id="{5242BF5E-68C5-4E43-FA78-14F2BAFEDFF9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29">
              <a:extLst>
                <a:ext uri="{FF2B5EF4-FFF2-40B4-BE49-F238E27FC236}">
                  <a16:creationId xmlns:a16="http://schemas.microsoft.com/office/drawing/2014/main" id="{86E57FFA-FB96-6E5B-9824-F663DE957C73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30">
              <a:extLst>
                <a:ext uri="{FF2B5EF4-FFF2-40B4-BE49-F238E27FC236}">
                  <a16:creationId xmlns:a16="http://schemas.microsoft.com/office/drawing/2014/main" id="{0B68FD05-2C94-7A15-6E95-8F441BA4BA1D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31">
              <a:extLst>
                <a:ext uri="{FF2B5EF4-FFF2-40B4-BE49-F238E27FC236}">
                  <a16:creationId xmlns:a16="http://schemas.microsoft.com/office/drawing/2014/main" id="{5A9C17BF-5BE7-4AA5-3B0D-BFF6E8A49D96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32">
              <a:extLst>
                <a:ext uri="{FF2B5EF4-FFF2-40B4-BE49-F238E27FC236}">
                  <a16:creationId xmlns:a16="http://schemas.microsoft.com/office/drawing/2014/main" id="{79C620E2-ADB7-7EC2-AF6F-77F3A8DD3238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33">
              <a:extLst>
                <a:ext uri="{FF2B5EF4-FFF2-40B4-BE49-F238E27FC236}">
                  <a16:creationId xmlns:a16="http://schemas.microsoft.com/office/drawing/2014/main" id="{0A8E294B-7C33-D751-4800-215DA9BEDC0E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34">
              <a:extLst>
                <a:ext uri="{FF2B5EF4-FFF2-40B4-BE49-F238E27FC236}">
                  <a16:creationId xmlns:a16="http://schemas.microsoft.com/office/drawing/2014/main" id="{012CFDAE-BC9B-3FE6-CC69-257DFCD7197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35">
              <a:extLst>
                <a:ext uri="{FF2B5EF4-FFF2-40B4-BE49-F238E27FC236}">
                  <a16:creationId xmlns:a16="http://schemas.microsoft.com/office/drawing/2014/main" id="{97963E23-9FB7-B2C6-AEEE-D3A8A358AD2A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36">
              <a:extLst>
                <a:ext uri="{FF2B5EF4-FFF2-40B4-BE49-F238E27FC236}">
                  <a16:creationId xmlns:a16="http://schemas.microsoft.com/office/drawing/2014/main" id="{1EC4B351-335C-F350-2B10-43ABC45A9DC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37">
              <a:extLst>
                <a:ext uri="{FF2B5EF4-FFF2-40B4-BE49-F238E27FC236}">
                  <a16:creationId xmlns:a16="http://schemas.microsoft.com/office/drawing/2014/main" id="{46A51F30-DE1F-CBF0-9C12-097B630DB3CF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38">
              <a:extLst>
                <a:ext uri="{FF2B5EF4-FFF2-40B4-BE49-F238E27FC236}">
                  <a16:creationId xmlns:a16="http://schemas.microsoft.com/office/drawing/2014/main" id="{FA43F207-C870-0847-9FDE-79B602AE731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B91DB7FA-2AC0-E732-E644-48818073617D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749235B-B8D3-0DDC-6338-2D598615C9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42888" y="79441"/>
            <a:ext cx="856907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Unimodal Diagnostic Blindspot in Alzheimer's Disease</a:t>
            </a:r>
            <a:endParaRPr sz="2800" i="0" u="none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lide Number Placeholder 4">
            <a:extLst>
              <a:ext uri="{FF2B5EF4-FFF2-40B4-BE49-F238E27FC236}">
                <a16:creationId xmlns:a16="http://schemas.microsoft.com/office/drawing/2014/main" id="{4C8CB8E9-424C-F28D-4B0A-41A2A137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BDD3AD80-7657-C945-0060-BC6C6F99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340" y="856387"/>
            <a:ext cx="3406410" cy="4781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257925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057275"/>
            <a:ext cx="5715892" cy="5048250"/>
          </a:xfrm>
          <a:prstGeom prst="roundRect">
            <a:avLst>
              <a:gd name="adj" fmla="val 15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39792" y="1057275"/>
            <a:ext cx="5218807" cy="5048250"/>
          </a:xfrm>
          <a:prstGeom prst="roundRect">
            <a:avLst>
              <a:gd name="adj" fmla="val 15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390650"/>
            <a:ext cx="5468242" cy="4391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17" y="1390650"/>
            <a:ext cx="4971157" cy="4391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400175"/>
            <a:ext cx="5449192" cy="4371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142" y="1400175"/>
            <a:ext cx="4952107" cy="4371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342900"/>
            <a:ext cx="7596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02. RESEARCH INITIATIVES: COHORT SELECTION &amp;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1181100"/>
            <a:ext cx="683530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Montserrat"/>
              </a:rPr>
              <a:t>Dataset Structure &amp; Missing Value Audit (373 Records, 15 Columns)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5838825"/>
            <a:ext cx="683530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Identified 19 missing values in SES and 2 in MMSE; handled via multivariate k-NN imputation.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3617" y="1181100"/>
            <a:ext cx="562838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Clinical Biomarker Descriptive 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3617" y="5838825"/>
            <a:ext cx="562838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Mean Age: 75.2 yrs | Mean MMSE: 28.7 | Mean nWBV: 0.707 | CDR Range: 0.0 to 2.0.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2EC3E76-A096-7A9D-840D-D671573C73D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40312B-B3B6-4B40-F21B-9C333DA716A0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CDBE28-04CB-BE1B-3EF2-2AC1E05090B0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22" name="Freeform: Shape 4">
                <a:extLst>
                  <a:ext uri="{FF2B5EF4-FFF2-40B4-BE49-F238E27FC236}">
                    <a16:creationId xmlns:a16="http://schemas.microsoft.com/office/drawing/2014/main" id="{C7831AEC-826B-C9BF-DC35-FFBCF159C11B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5">
                <a:extLst>
                  <a:ext uri="{FF2B5EF4-FFF2-40B4-BE49-F238E27FC236}">
                    <a16:creationId xmlns:a16="http://schemas.microsoft.com/office/drawing/2014/main" id="{AA564650-0383-DCA9-13D6-E2ED2433D24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6">
                <a:extLst>
                  <a:ext uri="{FF2B5EF4-FFF2-40B4-BE49-F238E27FC236}">
                    <a16:creationId xmlns:a16="http://schemas.microsoft.com/office/drawing/2014/main" id="{8B818D8D-9C18-C888-3621-F89F0DDF736F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7">
                <a:extLst>
                  <a:ext uri="{FF2B5EF4-FFF2-40B4-BE49-F238E27FC236}">
                    <a16:creationId xmlns:a16="http://schemas.microsoft.com/office/drawing/2014/main" id="{3390C177-4105-4D9B-ABD6-9807AA3BDC2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8">
                <a:extLst>
                  <a:ext uri="{FF2B5EF4-FFF2-40B4-BE49-F238E27FC236}">
                    <a16:creationId xmlns:a16="http://schemas.microsoft.com/office/drawing/2014/main" id="{1A88F2D1-A004-4C4D-EE8A-7F99EA242DA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9">
                <a:extLst>
                  <a:ext uri="{FF2B5EF4-FFF2-40B4-BE49-F238E27FC236}">
                    <a16:creationId xmlns:a16="http://schemas.microsoft.com/office/drawing/2014/main" id="{FF218EB0-47DA-D4F2-899C-50BF3C8BC38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0">
                <a:extLst>
                  <a:ext uri="{FF2B5EF4-FFF2-40B4-BE49-F238E27FC236}">
                    <a16:creationId xmlns:a16="http://schemas.microsoft.com/office/drawing/2014/main" id="{68E9A411-734B-E396-36C0-CB87DFB9E03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1">
                <a:extLst>
                  <a:ext uri="{FF2B5EF4-FFF2-40B4-BE49-F238E27FC236}">
                    <a16:creationId xmlns:a16="http://schemas.microsoft.com/office/drawing/2014/main" id="{A6006565-F68C-4ED4-8563-825731F3C63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2">
                <a:extLst>
                  <a:ext uri="{FF2B5EF4-FFF2-40B4-BE49-F238E27FC236}">
                    <a16:creationId xmlns:a16="http://schemas.microsoft.com/office/drawing/2014/main" id="{318283BC-3C4E-BD1E-FA98-6299AAFE1E71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13">
                <a:extLst>
                  <a:ext uri="{FF2B5EF4-FFF2-40B4-BE49-F238E27FC236}">
                    <a16:creationId xmlns:a16="http://schemas.microsoft.com/office/drawing/2014/main" id="{9C883A04-F23B-6523-970C-53EFFC4134B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14">
                <a:extLst>
                  <a:ext uri="{FF2B5EF4-FFF2-40B4-BE49-F238E27FC236}">
                    <a16:creationId xmlns:a16="http://schemas.microsoft.com/office/drawing/2014/main" id="{6C80D03F-E57A-2DBB-6D1A-DB1862A9A03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15">
                <a:extLst>
                  <a:ext uri="{FF2B5EF4-FFF2-40B4-BE49-F238E27FC236}">
                    <a16:creationId xmlns:a16="http://schemas.microsoft.com/office/drawing/2014/main" id="{701DFC9C-7A43-06C7-DE9C-939C6976593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16">
                <a:extLst>
                  <a:ext uri="{FF2B5EF4-FFF2-40B4-BE49-F238E27FC236}">
                    <a16:creationId xmlns:a16="http://schemas.microsoft.com/office/drawing/2014/main" id="{3F286FA3-027D-FEA5-5F86-89BFEBD121E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7">
                <a:extLst>
                  <a:ext uri="{FF2B5EF4-FFF2-40B4-BE49-F238E27FC236}">
                    <a16:creationId xmlns:a16="http://schemas.microsoft.com/office/drawing/2014/main" id="{F29CC560-D82A-DE91-4B24-58D7B02A1A2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18">
                <a:extLst>
                  <a:ext uri="{FF2B5EF4-FFF2-40B4-BE49-F238E27FC236}">
                    <a16:creationId xmlns:a16="http://schemas.microsoft.com/office/drawing/2014/main" id="{A58EF603-12F8-501C-CC0E-C673D5E82D0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19">
                <a:extLst>
                  <a:ext uri="{FF2B5EF4-FFF2-40B4-BE49-F238E27FC236}">
                    <a16:creationId xmlns:a16="http://schemas.microsoft.com/office/drawing/2014/main" id="{0E223597-3405-8A58-A200-E320D24C88AD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0">
                <a:extLst>
                  <a:ext uri="{FF2B5EF4-FFF2-40B4-BE49-F238E27FC236}">
                    <a16:creationId xmlns:a16="http://schemas.microsoft.com/office/drawing/2014/main" id="{CBB251A6-D83B-1DA6-3CE1-C8DA3F2F23C9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1">
                <a:extLst>
                  <a:ext uri="{FF2B5EF4-FFF2-40B4-BE49-F238E27FC236}">
                    <a16:creationId xmlns:a16="http://schemas.microsoft.com/office/drawing/2014/main" id="{05C591FF-E7AF-95BE-4C78-988EF7CFE393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2">
                <a:extLst>
                  <a:ext uri="{FF2B5EF4-FFF2-40B4-BE49-F238E27FC236}">
                    <a16:creationId xmlns:a16="http://schemas.microsoft.com/office/drawing/2014/main" id="{15DF1BBA-D68D-E77C-B192-B4BC1A541B20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23">
                <a:extLst>
                  <a:ext uri="{FF2B5EF4-FFF2-40B4-BE49-F238E27FC236}">
                    <a16:creationId xmlns:a16="http://schemas.microsoft.com/office/drawing/2014/main" id="{60450F25-7946-0CC4-625B-CCA529251B2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24">
                <a:extLst>
                  <a:ext uri="{FF2B5EF4-FFF2-40B4-BE49-F238E27FC236}">
                    <a16:creationId xmlns:a16="http://schemas.microsoft.com/office/drawing/2014/main" id="{41584FE0-2015-37DF-5CF8-D9EF83ABE122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25">
                <a:extLst>
                  <a:ext uri="{FF2B5EF4-FFF2-40B4-BE49-F238E27FC236}">
                    <a16:creationId xmlns:a16="http://schemas.microsoft.com/office/drawing/2014/main" id="{75921CB6-52EC-22F4-4600-84D565E2DE1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26">
                <a:extLst>
                  <a:ext uri="{FF2B5EF4-FFF2-40B4-BE49-F238E27FC236}">
                    <a16:creationId xmlns:a16="http://schemas.microsoft.com/office/drawing/2014/main" id="{7652A182-D103-FD96-A5B4-1B83FC67C0B5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7">
                <a:extLst>
                  <a:ext uri="{FF2B5EF4-FFF2-40B4-BE49-F238E27FC236}">
                    <a16:creationId xmlns:a16="http://schemas.microsoft.com/office/drawing/2014/main" id="{79CBD849-7D9D-B473-4F57-DDB45C799C4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28">
                <a:extLst>
                  <a:ext uri="{FF2B5EF4-FFF2-40B4-BE49-F238E27FC236}">
                    <a16:creationId xmlns:a16="http://schemas.microsoft.com/office/drawing/2014/main" id="{DFDFF96E-48FB-2663-6E1D-D519AFB66DB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29">
                <a:extLst>
                  <a:ext uri="{FF2B5EF4-FFF2-40B4-BE49-F238E27FC236}">
                    <a16:creationId xmlns:a16="http://schemas.microsoft.com/office/drawing/2014/main" id="{D956A238-916F-DA1E-5B85-0B5442AB3B24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0">
                <a:extLst>
                  <a:ext uri="{FF2B5EF4-FFF2-40B4-BE49-F238E27FC236}">
                    <a16:creationId xmlns:a16="http://schemas.microsoft.com/office/drawing/2014/main" id="{5244C50C-A82B-26C5-A972-21B99BCA7FC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1">
                <a:extLst>
                  <a:ext uri="{FF2B5EF4-FFF2-40B4-BE49-F238E27FC236}">
                    <a16:creationId xmlns:a16="http://schemas.microsoft.com/office/drawing/2014/main" id="{461FC98C-26FF-3C08-6531-32A0CDA0D8D1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2">
                <a:extLst>
                  <a:ext uri="{FF2B5EF4-FFF2-40B4-BE49-F238E27FC236}">
                    <a16:creationId xmlns:a16="http://schemas.microsoft.com/office/drawing/2014/main" id="{C1FB4E91-08B6-6D6A-4B4F-0EDF1985680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33">
                <a:extLst>
                  <a:ext uri="{FF2B5EF4-FFF2-40B4-BE49-F238E27FC236}">
                    <a16:creationId xmlns:a16="http://schemas.microsoft.com/office/drawing/2014/main" id="{85DFC580-1892-3FCD-7188-7BAB50ED7C30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34">
                <a:extLst>
                  <a:ext uri="{FF2B5EF4-FFF2-40B4-BE49-F238E27FC236}">
                    <a16:creationId xmlns:a16="http://schemas.microsoft.com/office/drawing/2014/main" id="{17950DEA-866F-BB3C-B426-AAE77A0C6FA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35">
                <a:extLst>
                  <a:ext uri="{FF2B5EF4-FFF2-40B4-BE49-F238E27FC236}">
                    <a16:creationId xmlns:a16="http://schemas.microsoft.com/office/drawing/2014/main" id="{9A22A0FE-CF9A-5E6D-2EB6-5FBC43CFC83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36">
                <a:extLst>
                  <a:ext uri="{FF2B5EF4-FFF2-40B4-BE49-F238E27FC236}">
                    <a16:creationId xmlns:a16="http://schemas.microsoft.com/office/drawing/2014/main" id="{C7C1A5A6-7F9E-DEDF-8325-9E20AE2259E3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37">
                <a:extLst>
                  <a:ext uri="{FF2B5EF4-FFF2-40B4-BE49-F238E27FC236}">
                    <a16:creationId xmlns:a16="http://schemas.microsoft.com/office/drawing/2014/main" id="{B99E050B-26CF-003F-2D83-364575057644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38">
                <a:extLst>
                  <a:ext uri="{FF2B5EF4-FFF2-40B4-BE49-F238E27FC236}">
                    <a16:creationId xmlns:a16="http://schemas.microsoft.com/office/drawing/2014/main" id="{C7FDDD73-FC5C-659E-C61D-F7788F7A2434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7AF050A-45CE-4440-6FCD-C8F37D921CCE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58" name="Freeform: Shape 4">
              <a:extLst>
                <a:ext uri="{FF2B5EF4-FFF2-40B4-BE49-F238E27FC236}">
                  <a16:creationId xmlns:a16="http://schemas.microsoft.com/office/drawing/2014/main" id="{196F706C-1C78-4980-7B32-D14F96B19592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5">
              <a:extLst>
                <a:ext uri="{FF2B5EF4-FFF2-40B4-BE49-F238E27FC236}">
                  <a16:creationId xmlns:a16="http://schemas.microsoft.com/office/drawing/2014/main" id="{82DFA325-15F3-FCC9-7428-5894CD4ECDE8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6">
              <a:extLst>
                <a:ext uri="{FF2B5EF4-FFF2-40B4-BE49-F238E27FC236}">
                  <a16:creationId xmlns:a16="http://schemas.microsoft.com/office/drawing/2014/main" id="{5B8ABE5A-CA8A-9BA2-E5AE-060480D92345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7">
              <a:extLst>
                <a:ext uri="{FF2B5EF4-FFF2-40B4-BE49-F238E27FC236}">
                  <a16:creationId xmlns:a16="http://schemas.microsoft.com/office/drawing/2014/main" id="{A657EB6A-5FC5-F932-ADD1-80818A83207E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8">
              <a:extLst>
                <a:ext uri="{FF2B5EF4-FFF2-40B4-BE49-F238E27FC236}">
                  <a16:creationId xmlns:a16="http://schemas.microsoft.com/office/drawing/2014/main" id="{328759A5-446A-FF82-5AC5-A6DF6AA00315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9">
              <a:extLst>
                <a:ext uri="{FF2B5EF4-FFF2-40B4-BE49-F238E27FC236}">
                  <a16:creationId xmlns:a16="http://schemas.microsoft.com/office/drawing/2014/main" id="{11ADBE68-ED4C-086E-C90B-5CC3B20DD701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10">
              <a:extLst>
                <a:ext uri="{FF2B5EF4-FFF2-40B4-BE49-F238E27FC236}">
                  <a16:creationId xmlns:a16="http://schemas.microsoft.com/office/drawing/2014/main" id="{72C6D932-8486-5B48-9A3B-CC610A8E9AEA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11">
              <a:extLst>
                <a:ext uri="{FF2B5EF4-FFF2-40B4-BE49-F238E27FC236}">
                  <a16:creationId xmlns:a16="http://schemas.microsoft.com/office/drawing/2014/main" id="{5F23735F-B32B-DE3C-4F18-AB29C7D04B9D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12">
              <a:extLst>
                <a:ext uri="{FF2B5EF4-FFF2-40B4-BE49-F238E27FC236}">
                  <a16:creationId xmlns:a16="http://schemas.microsoft.com/office/drawing/2014/main" id="{786B5B84-97E7-212F-0509-85C2CEB5EB1B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13">
              <a:extLst>
                <a:ext uri="{FF2B5EF4-FFF2-40B4-BE49-F238E27FC236}">
                  <a16:creationId xmlns:a16="http://schemas.microsoft.com/office/drawing/2014/main" id="{B326DDC0-38DD-DD11-0058-4AC7563DAA4B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14">
              <a:extLst>
                <a:ext uri="{FF2B5EF4-FFF2-40B4-BE49-F238E27FC236}">
                  <a16:creationId xmlns:a16="http://schemas.microsoft.com/office/drawing/2014/main" id="{1DCCE99F-463F-1BDB-6728-0DB7C3C7A37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15">
              <a:extLst>
                <a:ext uri="{FF2B5EF4-FFF2-40B4-BE49-F238E27FC236}">
                  <a16:creationId xmlns:a16="http://schemas.microsoft.com/office/drawing/2014/main" id="{F51EAD07-F25A-9568-6625-53DFA51545A6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16">
              <a:extLst>
                <a:ext uri="{FF2B5EF4-FFF2-40B4-BE49-F238E27FC236}">
                  <a16:creationId xmlns:a16="http://schemas.microsoft.com/office/drawing/2014/main" id="{93CB7992-C052-1EA7-EF69-46774906CC8B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17">
              <a:extLst>
                <a:ext uri="{FF2B5EF4-FFF2-40B4-BE49-F238E27FC236}">
                  <a16:creationId xmlns:a16="http://schemas.microsoft.com/office/drawing/2014/main" id="{C87326AA-B821-3EA7-3AB0-2FF9AAA6C861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18">
              <a:extLst>
                <a:ext uri="{FF2B5EF4-FFF2-40B4-BE49-F238E27FC236}">
                  <a16:creationId xmlns:a16="http://schemas.microsoft.com/office/drawing/2014/main" id="{2F8FFEA0-5EE7-79A9-C1A6-16FBEBE555CB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19">
              <a:extLst>
                <a:ext uri="{FF2B5EF4-FFF2-40B4-BE49-F238E27FC236}">
                  <a16:creationId xmlns:a16="http://schemas.microsoft.com/office/drawing/2014/main" id="{F9B666BF-ACFD-DF59-AF9F-DE8D0894A0B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20">
              <a:extLst>
                <a:ext uri="{FF2B5EF4-FFF2-40B4-BE49-F238E27FC236}">
                  <a16:creationId xmlns:a16="http://schemas.microsoft.com/office/drawing/2014/main" id="{92FAB0FC-6256-0DD7-C4F0-DCCB997D4530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21">
              <a:extLst>
                <a:ext uri="{FF2B5EF4-FFF2-40B4-BE49-F238E27FC236}">
                  <a16:creationId xmlns:a16="http://schemas.microsoft.com/office/drawing/2014/main" id="{D43A462E-7310-A369-1DC5-824533137A10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22">
              <a:extLst>
                <a:ext uri="{FF2B5EF4-FFF2-40B4-BE49-F238E27FC236}">
                  <a16:creationId xmlns:a16="http://schemas.microsoft.com/office/drawing/2014/main" id="{D83F5239-7F42-942C-CFC3-A587E7B305F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23">
              <a:extLst>
                <a:ext uri="{FF2B5EF4-FFF2-40B4-BE49-F238E27FC236}">
                  <a16:creationId xmlns:a16="http://schemas.microsoft.com/office/drawing/2014/main" id="{9DBCB256-6E0B-EAB0-2145-3099152FD3E3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24">
              <a:extLst>
                <a:ext uri="{FF2B5EF4-FFF2-40B4-BE49-F238E27FC236}">
                  <a16:creationId xmlns:a16="http://schemas.microsoft.com/office/drawing/2014/main" id="{6265628B-D726-D2CB-7B22-2AAC66F7E4A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25">
              <a:extLst>
                <a:ext uri="{FF2B5EF4-FFF2-40B4-BE49-F238E27FC236}">
                  <a16:creationId xmlns:a16="http://schemas.microsoft.com/office/drawing/2014/main" id="{8BCC5AFD-EE25-BA9A-3E70-760028B08EC4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26">
              <a:extLst>
                <a:ext uri="{FF2B5EF4-FFF2-40B4-BE49-F238E27FC236}">
                  <a16:creationId xmlns:a16="http://schemas.microsoft.com/office/drawing/2014/main" id="{F03EF72D-0D3F-7961-F825-0FD61A70F690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27">
              <a:extLst>
                <a:ext uri="{FF2B5EF4-FFF2-40B4-BE49-F238E27FC236}">
                  <a16:creationId xmlns:a16="http://schemas.microsoft.com/office/drawing/2014/main" id="{19B5B530-25B2-90CA-44F1-719E7AAF5F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28">
              <a:extLst>
                <a:ext uri="{FF2B5EF4-FFF2-40B4-BE49-F238E27FC236}">
                  <a16:creationId xmlns:a16="http://schemas.microsoft.com/office/drawing/2014/main" id="{B003E65E-5E8B-E7F9-2116-7236C46992A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29">
              <a:extLst>
                <a:ext uri="{FF2B5EF4-FFF2-40B4-BE49-F238E27FC236}">
                  <a16:creationId xmlns:a16="http://schemas.microsoft.com/office/drawing/2014/main" id="{308A033D-DD70-3BE0-627A-E6E04A4CEA20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30">
              <a:extLst>
                <a:ext uri="{FF2B5EF4-FFF2-40B4-BE49-F238E27FC236}">
                  <a16:creationId xmlns:a16="http://schemas.microsoft.com/office/drawing/2014/main" id="{978DADFF-86D6-730C-CC81-F4208D55966B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31">
              <a:extLst>
                <a:ext uri="{FF2B5EF4-FFF2-40B4-BE49-F238E27FC236}">
                  <a16:creationId xmlns:a16="http://schemas.microsoft.com/office/drawing/2014/main" id="{7BB218A7-7060-F64A-F65B-05D40364E976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32">
              <a:extLst>
                <a:ext uri="{FF2B5EF4-FFF2-40B4-BE49-F238E27FC236}">
                  <a16:creationId xmlns:a16="http://schemas.microsoft.com/office/drawing/2014/main" id="{A1799042-CD84-7CFF-A787-E125F165F19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33">
              <a:extLst>
                <a:ext uri="{FF2B5EF4-FFF2-40B4-BE49-F238E27FC236}">
                  <a16:creationId xmlns:a16="http://schemas.microsoft.com/office/drawing/2014/main" id="{CF1FA290-714E-5322-F5C3-0151A1888AD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34">
              <a:extLst>
                <a:ext uri="{FF2B5EF4-FFF2-40B4-BE49-F238E27FC236}">
                  <a16:creationId xmlns:a16="http://schemas.microsoft.com/office/drawing/2014/main" id="{70ECE6EE-4102-150C-52D7-3B8F2597DDDE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35">
              <a:extLst>
                <a:ext uri="{FF2B5EF4-FFF2-40B4-BE49-F238E27FC236}">
                  <a16:creationId xmlns:a16="http://schemas.microsoft.com/office/drawing/2014/main" id="{5561E86F-6300-1021-1DD2-92DBE9CF11D0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36">
              <a:extLst>
                <a:ext uri="{FF2B5EF4-FFF2-40B4-BE49-F238E27FC236}">
                  <a16:creationId xmlns:a16="http://schemas.microsoft.com/office/drawing/2014/main" id="{D6355CFD-DFD7-94A6-DC5E-A4D1AE08A16D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37">
              <a:extLst>
                <a:ext uri="{FF2B5EF4-FFF2-40B4-BE49-F238E27FC236}">
                  <a16:creationId xmlns:a16="http://schemas.microsoft.com/office/drawing/2014/main" id="{54CA71ED-0712-7D61-9387-012F028F3596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38">
              <a:extLst>
                <a:ext uri="{FF2B5EF4-FFF2-40B4-BE49-F238E27FC236}">
                  <a16:creationId xmlns:a16="http://schemas.microsoft.com/office/drawing/2014/main" id="{4484C860-AB67-3850-29DE-1351B9D1E78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54F4A902-99B4-45E7-65AC-894CE97C3EC8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17200C3D-A2CD-7C61-9533-53666C1936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94584" y="54888"/>
            <a:ext cx="762651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OASIS-2 Longitudinal Cohort Statistics &amp; Attributes</a:t>
            </a:r>
          </a:p>
        </p:txBody>
      </p:sp>
      <p:sp>
        <p:nvSpPr>
          <p:cNvPr id="95" name="Slide Number Placeholder 4">
            <a:extLst>
              <a:ext uri="{FF2B5EF4-FFF2-40B4-BE49-F238E27FC236}">
                <a16:creationId xmlns:a16="http://schemas.microsoft.com/office/drawing/2014/main" id="{7B4C6C33-EE08-88B0-35A2-4D2234AC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257925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057275"/>
            <a:ext cx="2667000" cy="5048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52800" y="1057275"/>
            <a:ext cx="2667000" cy="5048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057275"/>
            <a:ext cx="2667000" cy="5048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91600" y="1057275"/>
            <a:ext cx="2667000" cy="5048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352550"/>
            <a:ext cx="2457450" cy="432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75" y="1352550"/>
            <a:ext cx="2457450" cy="432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352550"/>
            <a:ext cx="2457450" cy="4324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5" y="1352550"/>
            <a:ext cx="2457450" cy="4324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362075"/>
            <a:ext cx="2438400" cy="430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1362075"/>
            <a:ext cx="2438400" cy="430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362075"/>
            <a:ext cx="2438400" cy="4305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900" y="1362075"/>
            <a:ext cx="2438400" cy="4305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342900"/>
            <a:ext cx="8512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Montserrat"/>
              </a:rPr>
              <a:t>02. PREPROCESSING &amp; TARGET FORMULATION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" y="1162050"/>
            <a:ext cx="3071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Montserrat"/>
              </a:rPr>
              <a:t>RAW CDR 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" y="5734050"/>
            <a:ext cx="2552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373 rows: Severe skew in CDR 1.0 (41) and CDR 2.0 (3).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7575" y="1162050"/>
            <a:ext cx="3071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Montserrat"/>
              </a:rPr>
              <a:t>TARGET FORMULATION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7575" y="5734050"/>
            <a:ext cx="2552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Binary grouping: CDR=0 (55.2%) vs CDR&gt;0 (44.8%).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6975" y="1162050"/>
            <a:ext cx="3071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59669"/>
                </a:solidFill>
                <a:latin typeface="Montserrat"/>
              </a:rPr>
              <a:t>PREDICTOR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975" y="5734050"/>
            <a:ext cx="2552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9 Numeric + 2 Categorical predictors (11 total features).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6375" y="1162050"/>
            <a:ext cx="3071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97706"/>
                </a:solidFill>
                <a:latin typeface="Montserrat"/>
              </a:rPr>
              <a:t>SUBJECT PARTITIONING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6375" y="5734050"/>
            <a:ext cx="2552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Montserrat"/>
              </a:rPr>
              <a:t>297 Train rows | 76 Test rows with balanced target ratios.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E40C97-4B56-ADB4-7A55-F564B1C17C6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FE49902-5623-1ED0-4567-BC384ADA2C29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35B6CAC-0AE2-D190-E8B7-8C45E3D7A5A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32" name="Freeform: Shape 4">
                <a:extLst>
                  <a:ext uri="{FF2B5EF4-FFF2-40B4-BE49-F238E27FC236}">
                    <a16:creationId xmlns:a16="http://schemas.microsoft.com/office/drawing/2014/main" id="{2C5BE180-08CC-A721-63C9-B570F761D97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5">
                <a:extLst>
                  <a:ext uri="{FF2B5EF4-FFF2-40B4-BE49-F238E27FC236}">
                    <a16:creationId xmlns:a16="http://schemas.microsoft.com/office/drawing/2014/main" id="{8EA24FCE-8E9E-B786-5C62-471389EE11E5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6">
                <a:extLst>
                  <a:ext uri="{FF2B5EF4-FFF2-40B4-BE49-F238E27FC236}">
                    <a16:creationId xmlns:a16="http://schemas.microsoft.com/office/drawing/2014/main" id="{29DA4CB7-1F2D-9C89-365B-B9C0ECD95CA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7">
                <a:extLst>
                  <a:ext uri="{FF2B5EF4-FFF2-40B4-BE49-F238E27FC236}">
                    <a16:creationId xmlns:a16="http://schemas.microsoft.com/office/drawing/2014/main" id="{D13940AA-16F7-AF21-EF0B-1971847D22DD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8">
                <a:extLst>
                  <a:ext uri="{FF2B5EF4-FFF2-40B4-BE49-F238E27FC236}">
                    <a16:creationId xmlns:a16="http://schemas.microsoft.com/office/drawing/2014/main" id="{664371F7-AFA2-8E97-48C4-A141528FFEBA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9">
                <a:extLst>
                  <a:ext uri="{FF2B5EF4-FFF2-40B4-BE49-F238E27FC236}">
                    <a16:creationId xmlns:a16="http://schemas.microsoft.com/office/drawing/2014/main" id="{F7A84255-A056-C77A-3584-4373D2C6C897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10">
                <a:extLst>
                  <a:ext uri="{FF2B5EF4-FFF2-40B4-BE49-F238E27FC236}">
                    <a16:creationId xmlns:a16="http://schemas.microsoft.com/office/drawing/2014/main" id="{61BF69B8-D697-4664-7C61-3F60AB92354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11">
                <a:extLst>
                  <a:ext uri="{FF2B5EF4-FFF2-40B4-BE49-F238E27FC236}">
                    <a16:creationId xmlns:a16="http://schemas.microsoft.com/office/drawing/2014/main" id="{BD2A64C6-0BFE-12E8-AE98-343EF94DCF8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9084D577-9C6C-892C-597F-B2D6DD27899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13">
                <a:extLst>
                  <a:ext uri="{FF2B5EF4-FFF2-40B4-BE49-F238E27FC236}">
                    <a16:creationId xmlns:a16="http://schemas.microsoft.com/office/drawing/2014/main" id="{1EF7DE6B-079F-A9EB-81AF-B446F9754D5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14">
                <a:extLst>
                  <a:ext uri="{FF2B5EF4-FFF2-40B4-BE49-F238E27FC236}">
                    <a16:creationId xmlns:a16="http://schemas.microsoft.com/office/drawing/2014/main" id="{11C19EC4-868C-AACA-5EA1-B99B519947BB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15">
                <a:extLst>
                  <a:ext uri="{FF2B5EF4-FFF2-40B4-BE49-F238E27FC236}">
                    <a16:creationId xmlns:a16="http://schemas.microsoft.com/office/drawing/2014/main" id="{E4C1987F-07A1-8C2E-07D3-836F5CD166D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16">
                <a:extLst>
                  <a:ext uri="{FF2B5EF4-FFF2-40B4-BE49-F238E27FC236}">
                    <a16:creationId xmlns:a16="http://schemas.microsoft.com/office/drawing/2014/main" id="{20FECDBB-AD50-480E-1658-7F0CB423043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17">
                <a:extLst>
                  <a:ext uri="{FF2B5EF4-FFF2-40B4-BE49-F238E27FC236}">
                    <a16:creationId xmlns:a16="http://schemas.microsoft.com/office/drawing/2014/main" id="{49586C8C-F3D3-1FCE-C43A-E8E498BAB47A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18">
                <a:extLst>
                  <a:ext uri="{FF2B5EF4-FFF2-40B4-BE49-F238E27FC236}">
                    <a16:creationId xmlns:a16="http://schemas.microsoft.com/office/drawing/2014/main" id="{A678226B-06C5-F6D8-E107-B976F3A5AA9A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9">
                <a:extLst>
                  <a:ext uri="{FF2B5EF4-FFF2-40B4-BE49-F238E27FC236}">
                    <a16:creationId xmlns:a16="http://schemas.microsoft.com/office/drawing/2014/main" id="{B55D7920-0047-EA50-DB2A-91686D160C8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20">
                <a:extLst>
                  <a:ext uri="{FF2B5EF4-FFF2-40B4-BE49-F238E27FC236}">
                    <a16:creationId xmlns:a16="http://schemas.microsoft.com/office/drawing/2014/main" id="{D629D7C5-AD2C-48F7-5E35-1EFE4D77278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21">
                <a:extLst>
                  <a:ext uri="{FF2B5EF4-FFF2-40B4-BE49-F238E27FC236}">
                    <a16:creationId xmlns:a16="http://schemas.microsoft.com/office/drawing/2014/main" id="{41439D14-681F-A817-CF55-E5D33C1C9C7E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22">
                <a:extLst>
                  <a:ext uri="{FF2B5EF4-FFF2-40B4-BE49-F238E27FC236}">
                    <a16:creationId xmlns:a16="http://schemas.microsoft.com/office/drawing/2014/main" id="{8D98B9B5-2911-C37D-9A43-36FE2044D04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23">
                <a:extLst>
                  <a:ext uri="{FF2B5EF4-FFF2-40B4-BE49-F238E27FC236}">
                    <a16:creationId xmlns:a16="http://schemas.microsoft.com/office/drawing/2014/main" id="{D7AE7136-FAF9-DE24-6197-BE6902175C31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24">
                <a:extLst>
                  <a:ext uri="{FF2B5EF4-FFF2-40B4-BE49-F238E27FC236}">
                    <a16:creationId xmlns:a16="http://schemas.microsoft.com/office/drawing/2014/main" id="{8E72F912-BCA4-7CFE-A65A-CF8CDC5EEB9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25">
                <a:extLst>
                  <a:ext uri="{FF2B5EF4-FFF2-40B4-BE49-F238E27FC236}">
                    <a16:creationId xmlns:a16="http://schemas.microsoft.com/office/drawing/2014/main" id="{A13F138C-FB7A-F2F3-DDBB-579A1518C35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26">
                <a:extLst>
                  <a:ext uri="{FF2B5EF4-FFF2-40B4-BE49-F238E27FC236}">
                    <a16:creationId xmlns:a16="http://schemas.microsoft.com/office/drawing/2014/main" id="{2B7E3F69-3720-9C48-C3D8-A6BD60CD2BD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27">
                <a:extLst>
                  <a:ext uri="{FF2B5EF4-FFF2-40B4-BE49-F238E27FC236}">
                    <a16:creationId xmlns:a16="http://schemas.microsoft.com/office/drawing/2014/main" id="{538125DF-8609-1850-C63F-F052ACA08BD9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28">
                <a:extLst>
                  <a:ext uri="{FF2B5EF4-FFF2-40B4-BE49-F238E27FC236}">
                    <a16:creationId xmlns:a16="http://schemas.microsoft.com/office/drawing/2014/main" id="{6D69D169-5436-2D88-27AE-DB84571BC391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9">
                <a:extLst>
                  <a:ext uri="{FF2B5EF4-FFF2-40B4-BE49-F238E27FC236}">
                    <a16:creationId xmlns:a16="http://schemas.microsoft.com/office/drawing/2014/main" id="{E75FD7B5-E9F6-737C-4F0B-8CBE46573F2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30">
                <a:extLst>
                  <a:ext uri="{FF2B5EF4-FFF2-40B4-BE49-F238E27FC236}">
                    <a16:creationId xmlns:a16="http://schemas.microsoft.com/office/drawing/2014/main" id="{390BE71E-18EE-E86C-FC7A-0BB196D4125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31">
                <a:extLst>
                  <a:ext uri="{FF2B5EF4-FFF2-40B4-BE49-F238E27FC236}">
                    <a16:creationId xmlns:a16="http://schemas.microsoft.com/office/drawing/2014/main" id="{4C9569A8-0A82-D10C-C413-14A42D70A99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32">
                <a:extLst>
                  <a:ext uri="{FF2B5EF4-FFF2-40B4-BE49-F238E27FC236}">
                    <a16:creationId xmlns:a16="http://schemas.microsoft.com/office/drawing/2014/main" id="{840BBD29-A6FB-0451-5C5C-BA06A972F0A0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33">
                <a:extLst>
                  <a:ext uri="{FF2B5EF4-FFF2-40B4-BE49-F238E27FC236}">
                    <a16:creationId xmlns:a16="http://schemas.microsoft.com/office/drawing/2014/main" id="{E229704B-3673-78CF-D498-75386175BAF8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34">
                <a:extLst>
                  <a:ext uri="{FF2B5EF4-FFF2-40B4-BE49-F238E27FC236}">
                    <a16:creationId xmlns:a16="http://schemas.microsoft.com/office/drawing/2014/main" id="{73FD0131-8478-9B44-5F18-7578DF86906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35">
                <a:extLst>
                  <a:ext uri="{FF2B5EF4-FFF2-40B4-BE49-F238E27FC236}">
                    <a16:creationId xmlns:a16="http://schemas.microsoft.com/office/drawing/2014/main" id="{7B97B52A-9263-C605-5402-56611561CB62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36">
                <a:extLst>
                  <a:ext uri="{FF2B5EF4-FFF2-40B4-BE49-F238E27FC236}">
                    <a16:creationId xmlns:a16="http://schemas.microsoft.com/office/drawing/2014/main" id="{D1C41434-F375-6806-44FC-D2169994200E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37">
                <a:extLst>
                  <a:ext uri="{FF2B5EF4-FFF2-40B4-BE49-F238E27FC236}">
                    <a16:creationId xmlns:a16="http://schemas.microsoft.com/office/drawing/2014/main" id="{CF0D6C52-27F8-3434-7EE3-EA3353FB8FA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38">
                <a:extLst>
                  <a:ext uri="{FF2B5EF4-FFF2-40B4-BE49-F238E27FC236}">
                    <a16:creationId xmlns:a16="http://schemas.microsoft.com/office/drawing/2014/main" id="{B914B561-8166-1AFB-CF82-A6968ADF4A4F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91EA57D-4705-1EC2-0F1D-0502DFEB441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68" name="Freeform: Shape 4">
              <a:extLst>
                <a:ext uri="{FF2B5EF4-FFF2-40B4-BE49-F238E27FC236}">
                  <a16:creationId xmlns:a16="http://schemas.microsoft.com/office/drawing/2014/main" id="{9C6C8E36-09D5-5667-6F77-9E822801666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5">
              <a:extLst>
                <a:ext uri="{FF2B5EF4-FFF2-40B4-BE49-F238E27FC236}">
                  <a16:creationId xmlns:a16="http://schemas.microsoft.com/office/drawing/2014/main" id="{A2C15F45-4C47-F80C-B30F-145DBA9508E1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6">
              <a:extLst>
                <a:ext uri="{FF2B5EF4-FFF2-40B4-BE49-F238E27FC236}">
                  <a16:creationId xmlns:a16="http://schemas.microsoft.com/office/drawing/2014/main" id="{3AEA8516-8E5F-C33D-AF31-1F605AA80DBF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7">
              <a:extLst>
                <a:ext uri="{FF2B5EF4-FFF2-40B4-BE49-F238E27FC236}">
                  <a16:creationId xmlns:a16="http://schemas.microsoft.com/office/drawing/2014/main" id="{DAB7BE2B-89DF-3298-3E7F-BC843FADF424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8">
              <a:extLst>
                <a:ext uri="{FF2B5EF4-FFF2-40B4-BE49-F238E27FC236}">
                  <a16:creationId xmlns:a16="http://schemas.microsoft.com/office/drawing/2014/main" id="{9D20F082-FE0E-0E94-C5B0-96B822850423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9">
              <a:extLst>
                <a:ext uri="{FF2B5EF4-FFF2-40B4-BE49-F238E27FC236}">
                  <a16:creationId xmlns:a16="http://schemas.microsoft.com/office/drawing/2014/main" id="{8CAD519C-58DA-05BE-EE4E-445E089666AF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10">
              <a:extLst>
                <a:ext uri="{FF2B5EF4-FFF2-40B4-BE49-F238E27FC236}">
                  <a16:creationId xmlns:a16="http://schemas.microsoft.com/office/drawing/2014/main" id="{442D1F24-1189-758F-0821-845666E68903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11">
              <a:extLst>
                <a:ext uri="{FF2B5EF4-FFF2-40B4-BE49-F238E27FC236}">
                  <a16:creationId xmlns:a16="http://schemas.microsoft.com/office/drawing/2014/main" id="{A44E3E6B-C58D-9976-9D9E-A3A74098DA98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12">
              <a:extLst>
                <a:ext uri="{FF2B5EF4-FFF2-40B4-BE49-F238E27FC236}">
                  <a16:creationId xmlns:a16="http://schemas.microsoft.com/office/drawing/2014/main" id="{503300D9-BD4D-BC2D-BC31-20968C287614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13">
              <a:extLst>
                <a:ext uri="{FF2B5EF4-FFF2-40B4-BE49-F238E27FC236}">
                  <a16:creationId xmlns:a16="http://schemas.microsoft.com/office/drawing/2014/main" id="{DA0CEA94-C46B-71D6-F44F-5186E9F544C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14">
              <a:extLst>
                <a:ext uri="{FF2B5EF4-FFF2-40B4-BE49-F238E27FC236}">
                  <a16:creationId xmlns:a16="http://schemas.microsoft.com/office/drawing/2014/main" id="{B692ACD9-3E64-A8C0-30E1-5A8E8112B4F2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15">
              <a:extLst>
                <a:ext uri="{FF2B5EF4-FFF2-40B4-BE49-F238E27FC236}">
                  <a16:creationId xmlns:a16="http://schemas.microsoft.com/office/drawing/2014/main" id="{41A63586-A302-9E5D-635E-ED912FFD410D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16">
              <a:extLst>
                <a:ext uri="{FF2B5EF4-FFF2-40B4-BE49-F238E27FC236}">
                  <a16:creationId xmlns:a16="http://schemas.microsoft.com/office/drawing/2014/main" id="{03F2546D-039E-42AB-14A9-F9DFA1289792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17">
              <a:extLst>
                <a:ext uri="{FF2B5EF4-FFF2-40B4-BE49-F238E27FC236}">
                  <a16:creationId xmlns:a16="http://schemas.microsoft.com/office/drawing/2014/main" id="{29B97690-5D09-E7FB-8AD9-236FEEB7A457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18">
              <a:extLst>
                <a:ext uri="{FF2B5EF4-FFF2-40B4-BE49-F238E27FC236}">
                  <a16:creationId xmlns:a16="http://schemas.microsoft.com/office/drawing/2014/main" id="{9F763CC1-E825-D014-2A79-401E19629013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19">
              <a:extLst>
                <a:ext uri="{FF2B5EF4-FFF2-40B4-BE49-F238E27FC236}">
                  <a16:creationId xmlns:a16="http://schemas.microsoft.com/office/drawing/2014/main" id="{6BF662AF-B474-404E-622F-04E637284628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20">
              <a:extLst>
                <a:ext uri="{FF2B5EF4-FFF2-40B4-BE49-F238E27FC236}">
                  <a16:creationId xmlns:a16="http://schemas.microsoft.com/office/drawing/2014/main" id="{22D7F425-AD10-8E56-79A2-17A770704F12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21">
              <a:extLst>
                <a:ext uri="{FF2B5EF4-FFF2-40B4-BE49-F238E27FC236}">
                  <a16:creationId xmlns:a16="http://schemas.microsoft.com/office/drawing/2014/main" id="{F0989BF3-8D8C-5AFF-AAD5-970DF48D1686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22">
              <a:extLst>
                <a:ext uri="{FF2B5EF4-FFF2-40B4-BE49-F238E27FC236}">
                  <a16:creationId xmlns:a16="http://schemas.microsoft.com/office/drawing/2014/main" id="{755D9F5B-F841-8727-97DC-F99B964AFF23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23">
              <a:extLst>
                <a:ext uri="{FF2B5EF4-FFF2-40B4-BE49-F238E27FC236}">
                  <a16:creationId xmlns:a16="http://schemas.microsoft.com/office/drawing/2014/main" id="{BF735B2C-B7DA-09CA-1C48-2E025A70256F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24">
              <a:extLst>
                <a:ext uri="{FF2B5EF4-FFF2-40B4-BE49-F238E27FC236}">
                  <a16:creationId xmlns:a16="http://schemas.microsoft.com/office/drawing/2014/main" id="{976999AE-7407-10E7-38CB-9EE87432FC6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25">
              <a:extLst>
                <a:ext uri="{FF2B5EF4-FFF2-40B4-BE49-F238E27FC236}">
                  <a16:creationId xmlns:a16="http://schemas.microsoft.com/office/drawing/2014/main" id="{35ACDD69-96AA-AF79-ABA6-B51DD9B58714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26">
              <a:extLst>
                <a:ext uri="{FF2B5EF4-FFF2-40B4-BE49-F238E27FC236}">
                  <a16:creationId xmlns:a16="http://schemas.microsoft.com/office/drawing/2014/main" id="{908B213C-C98C-A636-E4FC-0AAC77D28372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27">
              <a:extLst>
                <a:ext uri="{FF2B5EF4-FFF2-40B4-BE49-F238E27FC236}">
                  <a16:creationId xmlns:a16="http://schemas.microsoft.com/office/drawing/2014/main" id="{A295559D-6B09-337A-B8E6-1F9A638C35F8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28">
              <a:extLst>
                <a:ext uri="{FF2B5EF4-FFF2-40B4-BE49-F238E27FC236}">
                  <a16:creationId xmlns:a16="http://schemas.microsoft.com/office/drawing/2014/main" id="{2CB57BAA-C2BA-9688-E298-05943AD63CD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: Shape 29">
              <a:extLst>
                <a:ext uri="{FF2B5EF4-FFF2-40B4-BE49-F238E27FC236}">
                  <a16:creationId xmlns:a16="http://schemas.microsoft.com/office/drawing/2014/main" id="{6186518A-4435-5003-9B06-F6F24FF9059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: Shape 30">
              <a:extLst>
                <a:ext uri="{FF2B5EF4-FFF2-40B4-BE49-F238E27FC236}">
                  <a16:creationId xmlns:a16="http://schemas.microsoft.com/office/drawing/2014/main" id="{2FC4A526-B966-D174-4D87-D616205E74E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: Shape 31">
              <a:extLst>
                <a:ext uri="{FF2B5EF4-FFF2-40B4-BE49-F238E27FC236}">
                  <a16:creationId xmlns:a16="http://schemas.microsoft.com/office/drawing/2014/main" id="{666150A5-1C4C-82C0-B7C3-D9FA24859081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: Shape 32">
              <a:extLst>
                <a:ext uri="{FF2B5EF4-FFF2-40B4-BE49-F238E27FC236}">
                  <a16:creationId xmlns:a16="http://schemas.microsoft.com/office/drawing/2014/main" id="{07DDB5D1-F669-9265-5D82-ED522E010EF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Freeform: Shape 33">
              <a:extLst>
                <a:ext uri="{FF2B5EF4-FFF2-40B4-BE49-F238E27FC236}">
                  <a16:creationId xmlns:a16="http://schemas.microsoft.com/office/drawing/2014/main" id="{1F104634-F82B-B165-2EFD-799E751DF30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Freeform: Shape 34">
              <a:extLst>
                <a:ext uri="{FF2B5EF4-FFF2-40B4-BE49-F238E27FC236}">
                  <a16:creationId xmlns:a16="http://schemas.microsoft.com/office/drawing/2014/main" id="{1DFD5064-4498-7DF8-EEF7-907EA17FE0D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: Shape 35">
              <a:extLst>
                <a:ext uri="{FF2B5EF4-FFF2-40B4-BE49-F238E27FC236}">
                  <a16:creationId xmlns:a16="http://schemas.microsoft.com/office/drawing/2014/main" id="{22CF899F-F07F-FF58-1C26-A1EDFCD18888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: Shape 36">
              <a:extLst>
                <a:ext uri="{FF2B5EF4-FFF2-40B4-BE49-F238E27FC236}">
                  <a16:creationId xmlns:a16="http://schemas.microsoft.com/office/drawing/2014/main" id="{021774B1-697A-C815-BA27-0FFA8CE146B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: Shape 37">
              <a:extLst>
                <a:ext uri="{FF2B5EF4-FFF2-40B4-BE49-F238E27FC236}">
                  <a16:creationId xmlns:a16="http://schemas.microsoft.com/office/drawing/2014/main" id="{995A943A-2D17-DC20-3D6C-58B18E5A3EB2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: Shape 38">
              <a:extLst>
                <a:ext uri="{FF2B5EF4-FFF2-40B4-BE49-F238E27FC236}">
                  <a16:creationId xmlns:a16="http://schemas.microsoft.com/office/drawing/2014/main" id="{86E94563-DF3F-9412-F272-4292227CD8C8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192C540-3331-1ACC-9484-2DB4FD0049D3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1A54CCFD-73B8-4D27-DB92-C67A6E9747A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19266" y="127456"/>
            <a:ext cx="8315418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Partitioning, Target Encoding &amp; Split Verification</a:t>
            </a:r>
          </a:p>
        </p:txBody>
      </p:sp>
      <p:sp>
        <p:nvSpPr>
          <p:cNvPr id="105" name="Slide Number Placeholder 4">
            <a:extLst>
              <a:ext uri="{FF2B5EF4-FFF2-40B4-BE49-F238E27FC236}">
                <a16:creationId xmlns:a16="http://schemas.microsoft.com/office/drawing/2014/main" id="{222F87C0-D411-D717-DF52-82A3C89C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502598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05700" y="1057275"/>
            <a:ext cx="4152900" cy="5292923"/>
          </a:xfrm>
          <a:prstGeom prst="roundRect">
            <a:avLst>
              <a:gd name="adj" fmla="val 18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05700" y="1057275"/>
            <a:ext cx="38100" cy="529292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57275"/>
            <a:ext cx="6781800" cy="52929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181100"/>
            <a:ext cx="6534150" cy="50452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190625"/>
            <a:ext cx="6515100" cy="50262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42900"/>
            <a:ext cx="87987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Montserrat"/>
              </a:rPr>
              <a:t>03. EXPLORATORY DATA ANALYSIS (EDA) &amp; CORRELATIONS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4300" y="2777430"/>
            <a:ext cx="44577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Clinical Analytical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4300" y="3101280"/>
            <a:ext cx="38290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59669"/>
                </a:solidFill>
                <a:latin typeface="Montserrat"/>
              </a:rPr>
              <a:t>1. nWBV vs Age: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Progressive decline in normalized brain volume observable across older cohorts, correlating with impairment.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4300" y="3772792"/>
            <a:ext cx="38290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59669"/>
                </a:solidFill>
                <a:latin typeface="Montserrat"/>
              </a:rPr>
              <a:t>2. Inverse eTIV/ASF: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Perfect inverse correlation (-0.99) between scaling factor and intracranial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4300" y="4258567"/>
            <a:ext cx="38290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59669"/>
                </a:solidFill>
                <a:latin typeface="Montserrat"/>
              </a:rPr>
              <a:t>3. MMSE Sensitivity: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Negative correlation (-0.30) with age and strong alignment with clinical dementia onset.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0F384B-C84C-C4AE-30D7-1C746F0C6D6A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A312A5-56E3-9D9A-491D-D359907E90E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3ED94DF-89B2-2181-B219-67F034FC6EEF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21" name="Freeform: Shape 4">
                <a:extLst>
                  <a:ext uri="{FF2B5EF4-FFF2-40B4-BE49-F238E27FC236}">
                    <a16:creationId xmlns:a16="http://schemas.microsoft.com/office/drawing/2014/main" id="{5FFA56E4-7923-9828-9C04-FAAEFDF22B8C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5">
                <a:extLst>
                  <a:ext uri="{FF2B5EF4-FFF2-40B4-BE49-F238E27FC236}">
                    <a16:creationId xmlns:a16="http://schemas.microsoft.com/office/drawing/2014/main" id="{FD4E947F-DDD2-6D0E-E608-A7EAFC22285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6">
                <a:extLst>
                  <a:ext uri="{FF2B5EF4-FFF2-40B4-BE49-F238E27FC236}">
                    <a16:creationId xmlns:a16="http://schemas.microsoft.com/office/drawing/2014/main" id="{4FAFD4BF-AB97-1071-F142-FC63D680044D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7">
                <a:extLst>
                  <a:ext uri="{FF2B5EF4-FFF2-40B4-BE49-F238E27FC236}">
                    <a16:creationId xmlns:a16="http://schemas.microsoft.com/office/drawing/2014/main" id="{A1171AA5-EA84-AB2B-D5AD-E64D84FE8EE3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8">
                <a:extLst>
                  <a:ext uri="{FF2B5EF4-FFF2-40B4-BE49-F238E27FC236}">
                    <a16:creationId xmlns:a16="http://schemas.microsoft.com/office/drawing/2014/main" id="{A1499001-0124-4801-0F1A-956FD6205CF5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9">
                <a:extLst>
                  <a:ext uri="{FF2B5EF4-FFF2-40B4-BE49-F238E27FC236}">
                    <a16:creationId xmlns:a16="http://schemas.microsoft.com/office/drawing/2014/main" id="{0D6D2D4C-8183-616C-EDFF-3C69C937E12F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10">
                <a:extLst>
                  <a:ext uri="{FF2B5EF4-FFF2-40B4-BE49-F238E27FC236}">
                    <a16:creationId xmlns:a16="http://schemas.microsoft.com/office/drawing/2014/main" id="{4DDDE0C3-8624-1CD2-6D14-960FCC83ACFE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1">
                <a:extLst>
                  <a:ext uri="{FF2B5EF4-FFF2-40B4-BE49-F238E27FC236}">
                    <a16:creationId xmlns:a16="http://schemas.microsoft.com/office/drawing/2014/main" id="{3B684DB3-D66B-F16F-9D4D-7B75E17C22A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2">
                <a:extLst>
                  <a:ext uri="{FF2B5EF4-FFF2-40B4-BE49-F238E27FC236}">
                    <a16:creationId xmlns:a16="http://schemas.microsoft.com/office/drawing/2014/main" id="{9151735F-4089-576E-1CD0-0E928C618EF6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3">
                <a:extLst>
                  <a:ext uri="{FF2B5EF4-FFF2-40B4-BE49-F238E27FC236}">
                    <a16:creationId xmlns:a16="http://schemas.microsoft.com/office/drawing/2014/main" id="{16932C47-0B8C-39DE-0E46-5C52945BE49D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14">
                <a:extLst>
                  <a:ext uri="{FF2B5EF4-FFF2-40B4-BE49-F238E27FC236}">
                    <a16:creationId xmlns:a16="http://schemas.microsoft.com/office/drawing/2014/main" id="{332C3B90-901F-78A3-7ECD-D26A6C6BD90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15">
                <a:extLst>
                  <a:ext uri="{FF2B5EF4-FFF2-40B4-BE49-F238E27FC236}">
                    <a16:creationId xmlns:a16="http://schemas.microsoft.com/office/drawing/2014/main" id="{FE8A9F2F-EDD3-1086-C41A-572671B0377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16">
                <a:extLst>
                  <a:ext uri="{FF2B5EF4-FFF2-40B4-BE49-F238E27FC236}">
                    <a16:creationId xmlns:a16="http://schemas.microsoft.com/office/drawing/2014/main" id="{3400FB61-B508-9FC1-EC2B-7377B5112E5D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17">
                <a:extLst>
                  <a:ext uri="{FF2B5EF4-FFF2-40B4-BE49-F238E27FC236}">
                    <a16:creationId xmlns:a16="http://schemas.microsoft.com/office/drawing/2014/main" id="{3D2B8401-EF62-AFF2-5768-433C1F05A50A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8">
                <a:extLst>
                  <a:ext uri="{FF2B5EF4-FFF2-40B4-BE49-F238E27FC236}">
                    <a16:creationId xmlns:a16="http://schemas.microsoft.com/office/drawing/2014/main" id="{10BA039E-8F5A-F3B5-630B-A8AFFFFC666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19">
                <a:extLst>
                  <a:ext uri="{FF2B5EF4-FFF2-40B4-BE49-F238E27FC236}">
                    <a16:creationId xmlns:a16="http://schemas.microsoft.com/office/drawing/2014/main" id="{1306C23C-41B9-D035-C062-0D3A02F90D1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20">
                <a:extLst>
                  <a:ext uri="{FF2B5EF4-FFF2-40B4-BE49-F238E27FC236}">
                    <a16:creationId xmlns:a16="http://schemas.microsoft.com/office/drawing/2014/main" id="{74EB1D5B-A8DC-5FE2-C199-5634C454AAA9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1">
                <a:extLst>
                  <a:ext uri="{FF2B5EF4-FFF2-40B4-BE49-F238E27FC236}">
                    <a16:creationId xmlns:a16="http://schemas.microsoft.com/office/drawing/2014/main" id="{92E0E21E-F0B9-432C-7A93-17425B0528C1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2">
                <a:extLst>
                  <a:ext uri="{FF2B5EF4-FFF2-40B4-BE49-F238E27FC236}">
                    <a16:creationId xmlns:a16="http://schemas.microsoft.com/office/drawing/2014/main" id="{D15B53D6-3883-80BA-E290-84633EC4F58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3">
                <a:extLst>
                  <a:ext uri="{FF2B5EF4-FFF2-40B4-BE49-F238E27FC236}">
                    <a16:creationId xmlns:a16="http://schemas.microsoft.com/office/drawing/2014/main" id="{BAD87F10-CFC3-246B-991B-CC2FF983F6E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24">
                <a:extLst>
                  <a:ext uri="{FF2B5EF4-FFF2-40B4-BE49-F238E27FC236}">
                    <a16:creationId xmlns:a16="http://schemas.microsoft.com/office/drawing/2014/main" id="{2D4389C7-A77E-5006-2E03-176C5DED18F4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25">
                <a:extLst>
                  <a:ext uri="{FF2B5EF4-FFF2-40B4-BE49-F238E27FC236}">
                    <a16:creationId xmlns:a16="http://schemas.microsoft.com/office/drawing/2014/main" id="{CE7A769A-07F6-6F92-C87D-5ACC7ABDEA82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26">
                <a:extLst>
                  <a:ext uri="{FF2B5EF4-FFF2-40B4-BE49-F238E27FC236}">
                    <a16:creationId xmlns:a16="http://schemas.microsoft.com/office/drawing/2014/main" id="{D127FEE0-932D-2EC7-55F2-8144AE7C5093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27">
                <a:extLst>
                  <a:ext uri="{FF2B5EF4-FFF2-40B4-BE49-F238E27FC236}">
                    <a16:creationId xmlns:a16="http://schemas.microsoft.com/office/drawing/2014/main" id="{B492D351-CC31-19A0-4C02-CC9944CE2BA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8">
                <a:extLst>
                  <a:ext uri="{FF2B5EF4-FFF2-40B4-BE49-F238E27FC236}">
                    <a16:creationId xmlns:a16="http://schemas.microsoft.com/office/drawing/2014/main" id="{8B24993B-204D-4E84-0B51-209965D54955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29">
                <a:extLst>
                  <a:ext uri="{FF2B5EF4-FFF2-40B4-BE49-F238E27FC236}">
                    <a16:creationId xmlns:a16="http://schemas.microsoft.com/office/drawing/2014/main" id="{2BF64C1D-ABE0-ACC3-F617-68F890087C71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30">
                <a:extLst>
                  <a:ext uri="{FF2B5EF4-FFF2-40B4-BE49-F238E27FC236}">
                    <a16:creationId xmlns:a16="http://schemas.microsoft.com/office/drawing/2014/main" id="{1B3399A6-ADD5-DA98-BBC5-612BC1CCB32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1">
                <a:extLst>
                  <a:ext uri="{FF2B5EF4-FFF2-40B4-BE49-F238E27FC236}">
                    <a16:creationId xmlns:a16="http://schemas.microsoft.com/office/drawing/2014/main" id="{2F6B4876-AC87-2F5E-3342-EDC34BFEC18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2">
                <a:extLst>
                  <a:ext uri="{FF2B5EF4-FFF2-40B4-BE49-F238E27FC236}">
                    <a16:creationId xmlns:a16="http://schemas.microsoft.com/office/drawing/2014/main" id="{56EE1846-BBF7-8BF9-0263-0AF37A37F495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3">
                <a:extLst>
                  <a:ext uri="{FF2B5EF4-FFF2-40B4-BE49-F238E27FC236}">
                    <a16:creationId xmlns:a16="http://schemas.microsoft.com/office/drawing/2014/main" id="{1DE821AD-AA0B-A756-C2BD-FE36FB41EC3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34">
                <a:extLst>
                  <a:ext uri="{FF2B5EF4-FFF2-40B4-BE49-F238E27FC236}">
                    <a16:creationId xmlns:a16="http://schemas.microsoft.com/office/drawing/2014/main" id="{11AB83F4-F914-690E-7090-B7CD7F372479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35">
                <a:extLst>
                  <a:ext uri="{FF2B5EF4-FFF2-40B4-BE49-F238E27FC236}">
                    <a16:creationId xmlns:a16="http://schemas.microsoft.com/office/drawing/2014/main" id="{9A6ABB73-0A99-FC53-4EC2-CF79D49F9AE7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36">
                <a:extLst>
                  <a:ext uri="{FF2B5EF4-FFF2-40B4-BE49-F238E27FC236}">
                    <a16:creationId xmlns:a16="http://schemas.microsoft.com/office/drawing/2014/main" id="{B059968C-8761-9402-5582-5C38ABF1A922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37">
                <a:extLst>
                  <a:ext uri="{FF2B5EF4-FFF2-40B4-BE49-F238E27FC236}">
                    <a16:creationId xmlns:a16="http://schemas.microsoft.com/office/drawing/2014/main" id="{A0981EFA-1B8B-F5F6-4C5B-DEB167FF6E9C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38">
                <a:extLst>
                  <a:ext uri="{FF2B5EF4-FFF2-40B4-BE49-F238E27FC236}">
                    <a16:creationId xmlns:a16="http://schemas.microsoft.com/office/drawing/2014/main" id="{E60A6308-EC1C-7450-A898-6CBC51DFC998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DE9AC32-4DA8-847E-FAE7-F9084FDB9F88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57" name="Freeform: Shape 4">
              <a:extLst>
                <a:ext uri="{FF2B5EF4-FFF2-40B4-BE49-F238E27FC236}">
                  <a16:creationId xmlns:a16="http://schemas.microsoft.com/office/drawing/2014/main" id="{DB1F5FC1-8165-9162-F2A4-9485A537E03F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5">
              <a:extLst>
                <a:ext uri="{FF2B5EF4-FFF2-40B4-BE49-F238E27FC236}">
                  <a16:creationId xmlns:a16="http://schemas.microsoft.com/office/drawing/2014/main" id="{0A6A365C-7DA7-C755-FB35-12A1D48DD4EF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6">
              <a:extLst>
                <a:ext uri="{FF2B5EF4-FFF2-40B4-BE49-F238E27FC236}">
                  <a16:creationId xmlns:a16="http://schemas.microsoft.com/office/drawing/2014/main" id="{7F5ADD18-6A84-5686-436C-ADAFAB89D19E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7">
              <a:extLst>
                <a:ext uri="{FF2B5EF4-FFF2-40B4-BE49-F238E27FC236}">
                  <a16:creationId xmlns:a16="http://schemas.microsoft.com/office/drawing/2014/main" id="{72FC1376-25C6-09CE-FD9A-06790FFE5239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8">
              <a:extLst>
                <a:ext uri="{FF2B5EF4-FFF2-40B4-BE49-F238E27FC236}">
                  <a16:creationId xmlns:a16="http://schemas.microsoft.com/office/drawing/2014/main" id="{A27E3106-3354-EB93-257C-5E42BB28E892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9">
              <a:extLst>
                <a:ext uri="{FF2B5EF4-FFF2-40B4-BE49-F238E27FC236}">
                  <a16:creationId xmlns:a16="http://schemas.microsoft.com/office/drawing/2014/main" id="{84DAC455-49B8-1A5F-1520-5AEB66E70352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10">
              <a:extLst>
                <a:ext uri="{FF2B5EF4-FFF2-40B4-BE49-F238E27FC236}">
                  <a16:creationId xmlns:a16="http://schemas.microsoft.com/office/drawing/2014/main" id="{F90FA560-ACD0-7FA1-6F9F-97A13E50657D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11">
              <a:extLst>
                <a:ext uri="{FF2B5EF4-FFF2-40B4-BE49-F238E27FC236}">
                  <a16:creationId xmlns:a16="http://schemas.microsoft.com/office/drawing/2014/main" id="{6F6C8106-EF9B-6DAD-7C6E-58AA9159246C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12">
              <a:extLst>
                <a:ext uri="{FF2B5EF4-FFF2-40B4-BE49-F238E27FC236}">
                  <a16:creationId xmlns:a16="http://schemas.microsoft.com/office/drawing/2014/main" id="{93831C7D-8BDD-AB0B-344E-5B7FD7F19CD3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13">
              <a:extLst>
                <a:ext uri="{FF2B5EF4-FFF2-40B4-BE49-F238E27FC236}">
                  <a16:creationId xmlns:a16="http://schemas.microsoft.com/office/drawing/2014/main" id="{1A78B863-EBDB-3111-5018-059E6CE4F60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14">
              <a:extLst>
                <a:ext uri="{FF2B5EF4-FFF2-40B4-BE49-F238E27FC236}">
                  <a16:creationId xmlns:a16="http://schemas.microsoft.com/office/drawing/2014/main" id="{8930578B-74B1-281F-284C-04C5AE9EE92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15">
              <a:extLst>
                <a:ext uri="{FF2B5EF4-FFF2-40B4-BE49-F238E27FC236}">
                  <a16:creationId xmlns:a16="http://schemas.microsoft.com/office/drawing/2014/main" id="{CDE29BAC-316D-0BD2-C757-06A3667BBAF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16">
              <a:extLst>
                <a:ext uri="{FF2B5EF4-FFF2-40B4-BE49-F238E27FC236}">
                  <a16:creationId xmlns:a16="http://schemas.microsoft.com/office/drawing/2014/main" id="{AC2E0DFF-A96E-D245-E02F-01B7624D0D1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EEDB0E91-306A-FDDF-26E5-30740387657E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EAF922A3-63DC-C1CD-B3F0-59AF4B0ED73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0C0888EA-6ABA-6A71-59AB-24A79A7050ED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4EF57005-2BCA-DE0D-39F3-88C5A3B98DFE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0758A7F6-515D-F43B-AE69-3F276D05FE1D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22">
              <a:extLst>
                <a:ext uri="{FF2B5EF4-FFF2-40B4-BE49-F238E27FC236}">
                  <a16:creationId xmlns:a16="http://schemas.microsoft.com/office/drawing/2014/main" id="{FFE82364-F4EC-D220-BADE-4807EF072C75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23">
              <a:extLst>
                <a:ext uri="{FF2B5EF4-FFF2-40B4-BE49-F238E27FC236}">
                  <a16:creationId xmlns:a16="http://schemas.microsoft.com/office/drawing/2014/main" id="{2B626CBB-BC56-BC83-79AB-A9B93746F78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24">
              <a:extLst>
                <a:ext uri="{FF2B5EF4-FFF2-40B4-BE49-F238E27FC236}">
                  <a16:creationId xmlns:a16="http://schemas.microsoft.com/office/drawing/2014/main" id="{BBB818EE-CB0A-BE66-2F1D-6A93E9ADB4B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25">
              <a:extLst>
                <a:ext uri="{FF2B5EF4-FFF2-40B4-BE49-F238E27FC236}">
                  <a16:creationId xmlns:a16="http://schemas.microsoft.com/office/drawing/2014/main" id="{2DE3082D-F822-BC90-9A18-1207C8232A72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26">
              <a:extLst>
                <a:ext uri="{FF2B5EF4-FFF2-40B4-BE49-F238E27FC236}">
                  <a16:creationId xmlns:a16="http://schemas.microsoft.com/office/drawing/2014/main" id="{64A70DC2-4449-7E4D-7B17-08B2B9FBF7FD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27">
              <a:extLst>
                <a:ext uri="{FF2B5EF4-FFF2-40B4-BE49-F238E27FC236}">
                  <a16:creationId xmlns:a16="http://schemas.microsoft.com/office/drawing/2014/main" id="{E9B1E977-D185-9F89-3023-651162C2C9DC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28">
              <a:extLst>
                <a:ext uri="{FF2B5EF4-FFF2-40B4-BE49-F238E27FC236}">
                  <a16:creationId xmlns:a16="http://schemas.microsoft.com/office/drawing/2014/main" id="{609D9644-D724-BF68-2C6E-A36E9D20B02C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29">
              <a:extLst>
                <a:ext uri="{FF2B5EF4-FFF2-40B4-BE49-F238E27FC236}">
                  <a16:creationId xmlns:a16="http://schemas.microsoft.com/office/drawing/2014/main" id="{C0BF986B-4E8F-4BFF-EB04-B38B3F365E26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30">
              <a:extLst>
                <a:ext uri="{FF2B5EF4-FFF2-40B4-BE49-F238E27FC236}">
                  <a16:creationId xmlns:a16="http://schemas.microsoft.com/office/drawing/2014/main" id="{40E0803F-D6C7-B109-ADEC-5C22BEE74A0A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31">
              <a:extLst>
                <a:ext uri="{FF2B5EF4-FFF2-40B4-BE49-F238E27FC236}">
                  <a16:creationId xmlns:a16="http://schemas.microsoft.com/office/drawing/2014/main" id="{5002149F-B0CA-6622-2D14-EFDADAAE733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32">
              <a:extLst>
                <a:ext uri="{FF2B5EF4-FFF2-40B4-BE49-F238E27FC236}">
                  <a16:creationId xmlns:a16="http://schemas.microsoft.com/office/drawing/2014/main" id="{6F3B05AB-E6DF-D22C-F5B3-F47FA1EB943D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33">
              <a:extLst>
                <a:ext uri="{FF2B5EF4-FFF2-40B4-BE49-F238E27FC236}">
                  <a16:creationId xmlns:a16="http://schemas.microsoft.com/office/drawing/2014/main" id="{E3532AEB-440E-5B86-88CA-1A7519F6185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34">
              <a:extLst>
                <a:ext uri="{FF2B5EF4-FFF2-40B4-BE49-F238E27FC236}">
                  <a16:creationId xmlns:a16="http://schemas.microsoft.com/office/drawing/2014/main" id="{C89D19EE-82AD-FD4C-C68C-826AD7E9F698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35">
              <a:extLst>
                <a:ext uri="{FF2B5EF4-FFF2-40B4-BE49-F238E27FC236}">
                  <a16:creationId xmlns:a16="http://schemas.microsoft.com/office/drawing/2014/main" id="{83904C10-6BA8-2488-8868-7BF531FD43A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36">
              <a:extLst>
                <a:ext uri="{FF2B5EF4-FFF2-40B4-BE49-F238E27FC236}">
                  <a16:creationId xmlns:a16="http://schemas.microsoft.com/office/drawing/2014/main" id="{ADB5AAC7-E0F1-ED42-B5F3-ACDF2151CA1C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37">
              <a:extLst>
                <a:ext uri="{FF2B5EF4-FFF2-40B4-BE49-F238E27FC236}">
                  <a16:creationId xmlns:a16="http://schemas.microsoft.com/office/drawing/2014/main" id="{BA2985FC-26A4-1561-DE41-684326E4138F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38">
              <a:extLst>
                <a:ext uri="{FF2B5EF4-FFF2-40B4-BE49-F238E27FC236}">
                  <a16:creationId xmlns:a16="http://schemas.microsoft.com/office/drawing/2014/main" id="{D42DDAC8-2575-5636-93D8-6B86D8AEC169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D33DD73D-19A9-7596-C00D-BFE8360D4B92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174C105-6182-4AAF-6F4C-51D8F071A2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51606" y="112451"/>
            <a:ext cx="8705332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Attribute Distributions &amp; Feature Interaction Matrix</a:t>
            </a:r>
          </a:p>
        </p:txBody>
      </p:sp>
      <p:sp>
        <p:nvSpPr>
          <p:cNvPr id="94" name="Slide Number Placeholder 4">
            <a:extLst>
              <a:ext uri="{FF2B5EF4-FFF2-40B4-BE49-F238E27FC236}">
                <a16:creationId xmlns:a16="http://schemas.microsoft.com/office/drawing/2014/main" id="{2DEFC8B4-7B81-942B-AA7E-A4F8AE68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7295554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978408"/>
            <a:ext cx="4971288" cy="5469422"/>
          </a:xfrm>
          <a:prstGeom prst="roundRect">
            <a:avLst>
              <a:gd name="adj" fmla="val 141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390650"/>
            <a:ext cx="4637151" cy="489423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400175"/>
            <a:ext cx="4417314" cy="46631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25175" y="490537"/>
            <a:ext cx="1019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SIT-N / PBL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42900"/>
            <a:ext cx="9751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Montserrat"/>
              </a:rPr>
              <a:t>04. NOVEL PROPOSED SOLUTION &amp; FEATURE DRIVING WEIGHTS</a:t>
            </a: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28D14606-7E84-5BED-6946-0235701DB647}"/>
              </a:ext>
            </a:extLst>
          </p:cNvPr>
          <p:cNvSpPr/>
          <p:nvPr/>
        </p:nvSpPr>
        <p:spPr>
          <a:xfrm>
            <a:off x="5941149" y="1017842"/>
            <a:ext cx="5202936" cy="5390554"/>
          </a:xfrm>
          <a:prstGeom prst="roundRect">
            <a:avLst>
              <a:gd name="adj" fmla="val 141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3ECDCC-3C53-C4FE-5B23-C1A649A6E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22067"/>
            <a:ext cx="4893235" cy="498003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FCD834-F7FE-B9E4-CC48-3C923C3BF303}"/>
              </a:ext>
            </a:extLst>
          </p:cNvPr>
          <p:cNvSpPr txBox="1"/>
          <p:nvPr/>
        </p:nvSpPr>
        <p:spPr>
          <a:xfrm>
            <a:off x="697992" y="1151951"/>
            <a:ext cx="6429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Montserrat"/>
              </a:rPr>
              <a:t>Empirical Feature Importance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1116396"/>
            <a:ext cx="259846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0F172A"/>
                </a:solidFill>
                <a:latin typeface="Montserrat"/>
              </a:rPr>
              <a:t>Important</a:t>
            </a:r>
            <a:r>
              <a:rPr sz="975" b="1" i="0" u="none" dirty="0">
                <a:solidFill>
                  <a:srgbClr val="0F172A"/>
                </a:solidFill>
                <a:latin typeface="Montserrat"/>
              </a:rPr>
              <a:t> Feature Importance Ranking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EBBF95-EE89-AAB3-852A-6065401ACD31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FD4B99D-CBFB-D072-C728-EC872294B8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52E3192-57CA-64F6-276B-DD4EC4A82895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31" name="Freeform: Shape 4">
                <a:extLst>
                  <a:ext uri="{FF2B5EF4-FFF2-40B4-BE49-F238E27FC236}">
                    <a16:creationId xmlns:a16="http://schemas.microsoft.com/office/drawing/2014/main" id="{143528F1-4443-6900-0410-B7DA725BA71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5">
                <a:extLst>
                  <a:ext uri="{FF2B5EF4-FFF2-40B4-BE49-F238E27FC236}">
                    <a16:creationId xmlns:a16="http://schemas.microsoft.com/office/drawing/2014/main" id="{DBC4879C-7513-295F-CE19-BDA2F1247DA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6">
                <a:extLst>
                  <a:ext uri="{FF2B5EF4-FFF2-40B4-BE49-F238E27FC236}">
                    <a16:creationId xmlns:a16="http://schemas.microsoft.com/office/drawing/2014/main" id="{C70130EF-9F47-C6AC-C35B-62F2812247F1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7">
                <a:extLst>
                  <a:ext uri="{FF2B5EF4-FFF2-40B4-BE49-F238E27FC236}">
                    <a16:creationId xmlns:a16="http://schemas.microsoft.com/office/drawing/2014/main" id="{0FF46ECC-D80C-3DB1-A314-2ABCC6496F5A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8">
                <a:extLst>
                  <a:ext uri="{FF2B5EF4-FFF2-40B4-BE49-F238E27FC236}">
                    <a16:creationId xmlns:a16="http://schemas.microsoft.com/office/drawing/2014/main" id="{572991D1-DF63-1F70-21D9-01C829EBE57A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9">
                <a:extLst>
                  <a:ext uri="{FF2B5EF4-FFF2-40B4-BE49-F238E27FC236}">
                    <a16:creationId xmlns:a16="http://schemas.microsoft.com/office/drawing/2014/main" id="{094F96ED-065D-434D-6EBC-7E9C187F431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10">
                <a:extLst>
                  <a:ext uri="{FF2B5EF4-FFF2-40B4-BE49-F238E27FC236}">
                    <a16:creationId xmlns:a16="http://schemas.microsoft.com/office/drawing/2014/main" id="{ACBFF8D7-3C6C-6A72-18D3-C073D727255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11">
                <a:extLst>
                  <a:ext uri="{FF2B5EF4-FFF2-40B4-BE49-F238E27FC236}">
                    <a16:creationId xmlns:a16="http://schemas.microsoft.com/office/drawing/2014/main" id="{1B7B1EB1-7B37-FF26-2568-341A93C837CF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12">
                <a:extLst>
                  <a:ext uri="{FF2B5EF4-FFF2-40B4-BE49-F238E27FC236}">
                    <a16:creationId xmlns:a16="http://schemas.microsoft.com/office/drawing/2014/main" id="{43A83CB0-7639-6266-EC3C-ED1667FB70A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13">
                <a:extLst>
                  <a:ext uri="{FF2B5EF4-FFF2-40B4-BE49-F238E27FC236}">
                    <a16:creationId xmlns:a16="http://schemas.microsoft.com/office/drawing/2014/main" id="{BAFEB05A-674E-5497-140B-6A9B51CF763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14">
                <a:extLst>
                  <a:ext uri="{FF2B5EF4-FFF2-40B4-BE49-F238E27FC236}">
                    <a16:creationId xmlns:a16="http://schemas.microsoft.com/office/drawing/2014/main" id="{94AB9AD7-1A3E-92F2-70F1-46CFC862C35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15">
                <a:extLst>
                  <a:ext uri="{FF2B5EF4-FFF2-40B4-BE49-F238E27FC236}">
                    <a16:creationId xmlns:a16="http://schemas.microsoft.com/office/drawing/2014/main" id="{694B28E6-F094-1688-FFF0-C394D8B695B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16">
                <a:extLst>
                  <a:ext uri="{FF2B5EF4-FFF2-40B4-BE49-F238E27FC236}">
                    <a16:creationId xmlns:a16="http://schemas.microsoft.com/office/drawing/2014/main" id="{91DB9EC6-6EF4-CEAE-1859-A8EEAF4F673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17">
                <a:extLst>
                  <a:ext uri="{FF2B5EF4-FFF2-40B4-BE49-F238E27FC236}">
                    <a16:creationId xmlns:a16="http://schemas.microsoft.com/office/drawing/2014/main" id="{1BF1215B-1515-7A8B-36B4-835E566F8F9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18">
                <a:extLst>
                  <a:ext uri="{FF2B5EF4-FFF2-40B4-BE49-F238E27FC236}">
                    <a16:creationId xmlns:a16="http://schemas.microsoft.com/office/drawing/2014/main" id="{C04E0EF1-4B99-F3C1-D387-5A0E8422754C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19">
                <a:extLst>
                  <a:ext uri="{FF2B5EF4-FFF2-40B4-BE49-F238E27FC236}">
                    <a16:creationId xmlns:a16="http://schemas.microsoft.com/office/drawing/2014/main" id="{68FB0C0B-4EA2-CA8F-2AFE-B3270914EBB1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20">
                <a:extLst>
                  <a:ext uri="{FF2B5EF4-FFF2-40B4-BE49-F238E27FC236}">
                    <a16:creationId xmlns:a16="http://schemas.microsoft.com/office/drawing/2014/main" id="{BF8CC7B6-718D-CD57-E1FF-AF6AA68EDFC9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21">
                <a:extLst>
                  <a:ext uri="{FF2B5EF4-FFF2-40B4-BE49-F238E27FC236}">
                    <a16:creationId xmlns:a16="http://schemas.microsoft.com/office/drawing/2014/main" id="{D5566D38-CBB8-B039-30E6-CA4631FD35A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22">
                <a:extLst>
                  <a:ext uri="{FF2B5EF4-FFF2-40B4-BE49-F238E27FC236}">
                    <a16:creationId xmlns:a16="http://schemas.microsoft.com/office/drawing/2014/main" id="{B31CCEBE-677F-82B6-01D2-06864EF0E2E9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23">
                <a:extLst>
                  <a:ext uri="{FF2B5EF4-FFF2-40B4-BE49-F238E27FC236}">
                    <a16:creationId xmlns:a16="http://schemas.microsoft.com/office/drawing/2014/main" id="{286F84CD-A550-FE68-8647-E1F79A52913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24">
                <a:extLst>
                  <a:ext uri="{FF2B5EF4-FFF2-40B4-BE49-F238E27FC236}">
                    <a16:creationId xmlns:a16="http://schemas.microsoft.com/office/drawing/2014/main" id="{AA48B1CB-F75D-743F-0B78-AB3901D783F9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25">
                <a:extLst>
                  <a:ext uri="{FF2B5EF4-FFF2-40B4-BE49-F238E27FC236}">
                    <a16:creationId xmlns:a16="http://schemas.microsoft.com/office/drawing/2014/main" id="{17E4DBE8-0174-BD55-ED5E-688E9EB2ABE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26">
                <a:extLst>
                  <a:ext uri="{FF2B5EF4-FFF2-40B4-BE49-F238E27FC236}">
                    <a16:creationId xmlns:a16="http://schemas.microsoft.com/office/drawing/2014/main" id="{2411C603-19E2-BC14-A052-13DEBCF58F61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27">
                <a:extLst>
                  <a:ext uri="{FF2B5EF4-FFF2-40B4-BE49-F238E27FC236}">
                    <a16:creationId xmlns:a16="http://schemas.microsoft.com/office/drawing/2014/main" id="{BC16B6F5-4D6D-106D-BC8F-1CC93BD9E5EF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28">
                <a:extLst>
                  <a:ext uri="{FF2B5EF4-FFF2-40B4-BE49-F238E27FC236}">
                    <a16:creationId xmlns:a16="http://schemas.microsoft.com/office/drawing/2014/main" id="{EA2949F6-A0CD-9991-1FE5-56B48C82DE4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29">
                <a:extLst>
                  <a:ext uri="{FF2B5EF4-FFF2-40B4-BE49-F238E27FC236}">
                    <a16:creationId xmlns:a16="http://schemas.microsoft.com/office/drawing/2014/main" id="{E578E30A-3DDA-0C39-1939-760DB8232521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30">
                <a:extLst>
                  <a:ext uri="{FF2B5EF4-FFF2-40B4-BE49-F238E27FC236}">
                    <a16:creationId xmlns:a16="http://schemas.microsoft.com/office/drawing/2014/main" id="{702DCCDE-A8D5-10A3-21C7-BA46EB26F7A0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31">
                <a:extLst>
                  <a:ext uri="{FF2B5EF4-FFF2-40B4-BE49-F238E27FC236}">
                    <a16:creationId xmlns:a16="http://schemas.microsoft.com/office/drawing/2014/main" id="{D27CCE3E-9231-96D0-FB4B-45775889864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32">
                <a:extLst>
                  <a:ext uri="{FF2B5EF4-FFF2-40B4-BE49-F238E27FC236}">
                    <a16:creationId xmlns:a16="http://schemas.microsoft.com/office/drawing/2014/main" id="{DA303BE9-0C74-A93E-2DB3-A495FFF1D793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33">
                <a:extLst>
                  <a:ext uri="{FF2B5EF4-FFF2-40B4-BE49-F238E27FC236}">
                    <a16:creationId xmlns:a16="http://schemas.microsoft.com/office/drawing/2014/main" id="{56294601-A131-A0CC-CA02-73786A86A0E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34">
                <a:extLst>
                  <a:ext uri="{FF2B5EF4-FFF2-40B4-BE49-F238E27FC236}">
                    <a16:creationId xmlns:a16="http://schemas.microsoft.com/office/drawing/2014/main" id="{ACB4C13E-2864-3E01-EF5B-A62A3179BF2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35">
                <a:extLst>
                  <a:ext uri="{FF2B5EF4-FFF2-40B4-BE49-F238E27FC236}">
                    <a16:creationId xmlns:a16="http://schemas.microsoft.com/office/drawing/2014/main" id="{20BE1118-0F7B-E4AB-2EB5-5B5CBB78482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36">
                <a:extLst>
                  <a:ext uri="{FF2B5EF4-FFF2-40B4-BE49-F238E27FC236}">
                    <a16:creationId xmlns:a16="http://schemas.microsoft.com/office/drawing/2014/main" id="{40F27711-F91D-FB6D-C470-BC660464D712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37">
                <a:extLst>
                  <a:ext uri="{FF2B5EF4-FFF2-40B4-BE49-F238E27FC236}">
                    <a16:creationId xmlns:a16="http://schemas.microsoft.com/office/drawing/2014/main" id="{E4E1A0D2-C51B-56F4-F029-A6741343F2D5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38">
                <a:extLst>
                  <a:ext uri="{FF2B5EF4-FFF2-40B4-BE49-F238E27FC236}">
                    <a16:creationId xmlns:a16="http://schemas.microsoft.com/office/drawing/2014/main" id="{0CB186D2-AD65-9489-0C08-AA004B9028A2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5F55565-4BA3-CF28-6947-3BE8CBB908EB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67" name="Freeform: Shape 4">
              <a:extLst>
                <a:ext uri="{FF2B5EF4-FFF2-40B4-BE49-F238E27FC236}">
                  <a16:creationId xmlns:a16="http://schemas.microsoft.com/office/drawing/2014/main" id="{10D60D4B-588D-2BD6-FA1F-C6C30AC022F4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5">
              <a:extLst>
                <a:ext uri="{FF2B5EF4-FFF2-40B4-BE49-F238E27FC236}">
                  <a16:creationId xmlns:a16="http://schemas.microsoft.com/office/drawing/2014/main" id="{377983A8-6299-5E09-B148-E4A78C0D3DA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6">
              <a:extLst>
                <a:ext uri="{FF2B5EF4-FFF2-40B4-BE49-F238E27FC236}">
                  <a16:creationId xmlns:a16="http://schemas.microsoft.com/office/drawing/2014/main" id="{D082D36E-EC06-83CD-0BE2-E0DA092077E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7">
              <a:extLst>
                <a:ext uri="{FF2B5EF4-FFF2-40B4-BE49-F238E27FC236}">
                  <a16:creationId xmlns:a16="http://schemas.microsoft.com/office/drawing/2014/main" id="{5AA7CFF0-658C-3D7E-EB44-09E3DD09179A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8">
              <a:extLst>
                <a:ext uri="{FF2B5EF4-FFF2-40B4-BE49-F238E27FC236}">
                  <a16:creationId xmlns:a16="http://schemas.microsoft.com/office/drawing/2014/main" id="{0809804C-6BEF-D9B5-55D5-0110DEEAB752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9">
              <a:extLst>
                <a:ext uri="{FF2B5EF4-FFF2-40B4-BE49-F238E27FC236}">
                  <a16:creationId xmlns:a16="http://schemas.microsoft.com/office/drawing/2014/main" id="{811EF3D4-054B-290B-2160-EF95B9DB87C3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10">
              <a:extLst>
                <a:ext uri="{FF2B5EF4-FFF2-40B4-BE49-F238E27FC236}">
                  <a16:creationId xmlns:a16="http://schemas.microsoft.com/office/drawing/2014/main" id="{4E9F0476-6695-0C7A-253B-2A1F1E8BF983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11">
              <a:extLst>
                <a:ext uri="{FF2B5EF4-FFF2-40B4-BE49-F238E27FC236}">
                  <a16:creationId xmlns:a16="http://schemas.microsoft.com/office/drawing/2014/main" id="{678A4B3C-F450-B086-2A8D-D31F9CC3A132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12">
              <a:extLst>
                <a:ext uri="{FF2B5EF4-FFF2-40B4-BE49-F238E27FC236}">
                  <a16:creationId xmlns:a16="http://schemas.microsoft.com/office/drawing/2014/main" id="{7885AA97-0428-B272-B33D-51045DFB8856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13">
              <a:extLst>
                <a:ext uri="{FF2B5EF4-FFF2-40B4-BE49-F238E27FC236}">
                  <a16:creationId xmlns:a16="http://schemas.microsoft.com/office/drawing/2014/main" id="{DEE5D54E-FA27-48EB-16C9-33496FF533D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14">
              <a:extLst>
                <a:ext uri="{FF2B5EF4-FFF2-40B4-BE49-F238E27FC236}">
                  <a16:creationId xmlns:a16="http://schemas.microsoft.com/office/drawing/2014/main" id="{8987EB08-B201-D5DA-2303-89BBAA681FDC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15">
              <a:extLst>
                <a:ext uri="{FF2B5EF4-FFF2-40B4-BE49-F238E27FC236}">
                  <a16:creationId xmlns:a16="http://schemas.microsoft.com/office/drawing/2014/main" id="{763A0730-A37B-964C-6C59-7FC5CEA2AFB2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16">
              <a:extLst>
                <a:ext uri="{FF2B5EF4-FFF2-40B4-BE49-F238E27FC236}">
                  <a16:creationId xmlns:a16="http://schemas.microsoft.com/office/drawing/2014/main" id="{56A5220C-FB4D-B386-86EE-F8EE77E5832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17">
              <a:extLst>
                <a:ext uri="{FF2B5EF4-FFF2-40B4-BE49-F238E27FC236}">
                  <a16:creationId xmlns:a16="http://schemas.microsoft.com/office/drawing/2014/main" id="{0A8D9BCD-A69D-3110-CB87-5099718ACE1B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18">
              <a:extLst>
                <a:ext uri="{FF2B5EF4-FFF2-40B4-BE49-F238E27FC236}">
                  <a16:creationId xmlns:a16="http://schemas.microsoft.com/office/drawing/2014/main" id="{5D273454-DF42-7546-43DD-D7FEE22A6970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19">
              <a:extLst>
                <a:ext uri="{FF2B5EF4-FFF2-40B4-BE49-F238E27FC236}">
                  <a16:creationId xmlns:a16="http://schemas.microsoft.com/office/drawing/2014/main" id="{D2BEAF49-D834-5145-049C-A3EF36E5BEC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20">
              <a:extLst>
                <a:ext uri="{FF2B5EF4-FFF2-40B4-BE49-F238E27FC236}">
                  <a16:creationId xmlns:a16="http://schemas.microsoft.com/office/drawing/2014/main" id="{C69315E1-3276-8A4D-9307-A2AE21BD2902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21">
              <a:extLst>
                <a:ext uri="{FF2B5EF4-FFF2-40B4-BE49-F238E27FC236}">
                  <a16:creationId xmlns:a16="http://schemas.microsoft.com/office/drawing/2014/main" id="{EDDC0BB5-F260-9FD4-EDF7-CDDF1B862E04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22">
              <a:extLst>
                <a:ext uri="{FF2B5EF4-FFF2-40B4-BE49-F238E27FC236}">
                  <a16:creationId xmlns:a16="http://schemas.microsoft.com/office/drawing/2014/main" id="{6137F589-3EC8-8452-442A-D0FEA31D3C9A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23">
              <a:extLst>
                <a:ext uri="{FF2B5EF4-FFF2-40B4-BE49-F238E27FC236}">
                  <a16:creationId xmlns:a16="http://schemas.microsoft.com/office/drawing/2014/main" id="{7BEF96A7-2C9A-65B2-ED79-9AE1B6B7C54C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24">
              <a:extLst>
                <a:ext uri="{FF2B5EF4-FFF2-40B4-BE49-F238E27FC236}">
                  <a16:creationId xmlns:a16="http://schemas.microsoft.com/office/drawing/2014/main" id="{4106DFCE-25B2-C9AA-D77C-A3E44CCD93D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25">
              <a:extLst>
                <a:ext uri="{FF2B5EF4-FFF2-40B4-BE49-F238E27FC236}">
                  <a16:creationId xmlns:a16="http://schemas.microsoft.com/office/drawing/2014/main" id="{B4CD16C3-F7DD-FC07-6B89-5B7EDC74534A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26">
              <a:extLst>
                <a:ext uri="{FF2B5EF4-FFF2-40B4-BE49-F238E27FC236}">
                  <a16:creationId xmlns:a16="http://schemas.microsoft.com/office/drawing/2014/main" id="{0D675337-C22B-D82F-89BA-0E2BF81BD9D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27">
              <a:extLst>
                <a:ext uri="{FF2B5EF4-FFF2-40B4-BE49-F238E27FC236}">
                  <a16:creationId xmlns:a16="http://schemas.microsoft.com/office/drawing/2014/main" id="{EC7E4C2C-9F89-B6D8-E52F-B6B3A08DE32D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28">
              <a:extLst>
                <a:ext uri="{FF2B5EF4-FFF2-40B4-BE49-F238E27FC236}">
                  <a16:creationId xmlns:a16="http://schemas.microsoft.com/office/drawing/2014/main" id="{C0A3FA40-9D95-DF7C-EA08-08337BAD0EF8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29">
              <a:extLst>
                <a:ext uri="{FF2B5EF4-FFF2-40B4-BE49-F238E27FC236}">
                  <a16:creationId xmlns:a16="http://schemas.microsoft.com/office/drawing/2014/main" id="{30581B23-3E2E-239E-F042-A2863BB85410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: Shape 30">
              <a:extLst>
                <a:ext uri="{FF2B5EF4-FFF2-40B4-BE49-F238E27FC236}">
                  <a16:creationId xmlns:a16="http://schemas.microsoft.com/office/drawing/2014/main" id="{EDD6225D-9070-70EB-3B27-AEAEB470483A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: Shape 31">
              <a:extLst>
                <a:ext uri="{FF2B5EF4-FFF2-40B4-BE49-F238E27FC236}">
                  <a16:creationId xmlns:a16="http://schemas.microsoft.com/office/drawing/2014/main" id="{AF903B00-E5B8-FFD3-CACC-9A3B6DB31C7C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: Shape 32">
              <a:extLst>
                <a:ext uri="{FF2B5EF4-FFF2-40B4-BE49-F238E27FC236}">
                  <a16:creationId xmlns:a16="http://schemas.microsoft.com/office/drawing/2014/main" id="{C249F011-B91D-B97B-9170-8A5A053926E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: Shape 33">
              <a:extLst>
                <a:ext uri="{FF2B5EF4-FFF2-40B4-BE49-F238E27FC236}">
                  <a16:creationId xmlns:a16="http://schemas.microsoft.com/office/drawing/2014/main" id="{77AE22A8-CC18-161D-D37C-34C5BAD4A46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Freeform: Shape 34">
              <a:extLst>
                <a:ext uri="{FF2B5EF4-FFF2-40B4-BE49-F238E27FC236}">
                  <a16:creationId xmlns:a16="http://schemas.microsoft.com/office/drawing/2014/main" id="{21A1820C-4D7F-81C6-BD99-684CCC509683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Freeform: Shape 35">
              <a:extLst>
                <a:ext uri="{FF2B5EF4-FFF2-40B4-BE49-F238E27FC236}">
                  <a16:creationId xmlns:a16="http://schemas.microsoft.com/office/drawing/2014/main" id="{1076629A-C983-5AE1-2718-E2D7402EA51F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: Shape 36">
              <a:extLst>
                <a:ext uri="{FF2B5EF4-FFF2-40B4-BE49-F238E27FC236}">
                  <a16:creationId xmlns:a16="http://schemas.microsoft.com/office/drawing/2014/main" id="{A40B539E-FFFD-E2C7-5083-98927058A55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: Shape 37">
              <a:extLst>
                <a:ext uri="{FF2B5EF4-FFF2-40B4-BE49-F238E27FC236}">
                  <a16:creationId xmlns:a16="http://schemas.microsoft.com/office/drawing/2014/main" id="{8EF9C33B-4DB3-2A18-2747-1B2EC3ABB44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: Shape 38">
              <a:extLst>
                <a:ext uri="{FF2B5EF4-FFF2-40B4-BE49-F238E27FC236}">
                  <a16:creationId xmlns:a16="http://schemas.microsoft.com/office/drawing/2014/main" id="{B8DDA2F6-5B24-5022-C301-B7F03B9CB3B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B1912E-2910-2EBC-361C-18BAEA97904A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C2F1A32-8622-E0BB-9E1A-6E9C528EEC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34330" y="107021"/>
            <a:ext cx="9444893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 Guidance &amp; Random Forest Feature Importances</a:t>
            </a:r>
          </a:p>
        </p:txBody>
      </p:sp>
      <p:sp>
        <p:nvSpPr>
          <p:cNvPr id="104" name="Slide Number Placeholder 4">
            <a:extLst>
              <a:ext uri="{FF2B5EF4-FFF2-40B4-BE49-F238E27FC236}">
                <a16:creationId xmlns:a16="http://schemas.microsoft.com/office/drawing/2014/main" id="{766DA19A-7939-7722-256E-98586820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257925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057275"/>
            <a:ext cx="6659909" cy="5048250"/>
          </a:xfrm>
          <a:prstGeom prst="roundRect">
            <a:avLst>
              <a:gd name="adj" fmla="val 15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83809" y="2224087"/>
            <a:ext cx="427479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83809" y="3167062"/>
            <a:ext cx="4274790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83809" y="4110037"/>
            <a:ext cx="4274790" cy="828675"/>
          </a:xfrm>
          <a:prstGeom prst="roundRect">
            <a:avLst>
              <a:gd name="adj" fmla="val 9195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3809" y="2224087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83809" y="3167062"/>
            <a:ext cx="38100" cy="8286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83809" y="4110037"/>
            <a:ext cx="38100" cy="828675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390650"/>
            <a:ext cx="6412259" cy="4391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400175"/>
            <a:ext cx="6393209" cy="4371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42900"/>
            <a:ext cx="7215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Montserrat"/>
              </a:rPr>
              <a:t>04. EXPERIMENTAL PERFORMANCE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1181100"/>
            <a:ext cx="80153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Baseline Metrics (Accuracy, Precision, Recall, F1, ROC-AUC)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5838825"/>
            <a:ext cx="801532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Montserrat"/>
              </a:rPr>
              <a:t>Evaluated against a zero-intelligence Dummy baseline (AUROC 0.500).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4309" y="2376487"/>
            <a:ext cx="46176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Montserrat"/>
              </a:rPr>
              <a:t>Logistic Regression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4309" y="2595562"/>
            <a:ext cx="402714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Montserrat"/>
              </a:rPr>
              <a:t>Achieved 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72.4% Accuracy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, 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0.72 Recall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, and 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0.828 ROC-AUC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on clinical test rows.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4309" y="3319462"/>
            <a:ext cx="46176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47857"/>
                </a:solidFill>
                <a:latin typeface="Montserrat"/>
              </a:rPr>
              <a:t>Random Forest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4309" y="3538537"/>
            <a:ext cx="402714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Montserrat"/>
              </a:rPr>
              <a:t>Achieved 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65.8% Accuracy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and higher Sensitivity (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0.76 Recall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), with 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0.737 ROC-AUC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4309" y="4262437"/>
            <a:ext cx="46176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Montserrat"/>
              </a:rPr>
              <a:t>Multimodal Uplift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4309" y="4481512"/>
            <a:ext cx="402714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Montserrat"/>
              </a:rPr>
              <a:t>Cross-attention integration of 3D-MRI feature maps drives ROC-AUC up to </a:t>
            </a:r>
            <a:r>
              <a:rPr sz="975" b="1" i="0" u="none">
                <a:solidFill>
                  <a:srgbClr val="334155"/>
                </a:solidFill>
                <a:latin typeface="Montserrat"/>
              </a:rPr>
              <a:t>0.94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E18C9E-11DB-BE1C-A0EA-EFB1E397430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FD8DAA3-0512-98CD-AEB3-BCA13687266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C38220C-4A64-53AB-0271-81031B9D9C4D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29" name="Freeform: Shape 4">
                <a:extLst>
                  <a:ext uri="{FF2B5EF4-FFF2-40B4-BE49-F238E27FC236}">
                    <a16:creationId xmlns:a16="http://schemas.microsoft.com/office/drawing/2014/main" id="{5B28994E-9A9E-B3BE-9939-B1845E3D130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5">
                <a:extLst>
                  <a:ext uri="{FF2B5EF4-FFF2-40B4-BE49-F238E27FC236}">
                    <a16:creationId xmlns:a16="http://schemas.microsoft.com/office/drawing/2014/main" id="{503AB978-B4CC-4EC4-E77C-59AF07975D4F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6">
                <a:extLst>
                  <a:ext uri="{FF2B5EF4-FFF2-40B4-BE49-F238E27FC236}">
                    <a16:creationId xmlns:a16="http://schemas.microsoft.com/office/drawing/2014/main" id="{FEB1B6C0-5764-AF98-4389-3DF1E3043C79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7">
                <a:extLst>
                  <a:ext uri="{FF2B5EF4-FFF2-40B4-BE49-F238E27FC236}">
                    <a16:creationId xmlns:a16="http://schemas.microsoft.com/office/drawing/2014/main" id="{886ED1DF-5D12-FFC3-61B3-2DAE1893F50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8">
                <a:extLst>
                  <a:ext uri="{FF2B5EF4-FFF2-40B4-BE49-F238E27FC236}">
                    <a16:creationId xmlns:a16="http://schemas.microsoft.com/office/drawing/2014/main" id="{3C7EE767-0167-BC6D-DB8F-DCCA1A5A408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9">
                <a:extLst>
                  <a:ext uri="{FF2B5EF4-FFF2-40B4-BE49-F238E27FC236}">
                    <a16:creationId xmlns:a16="http://schemas.microsoft.com/office/drawing/2014/main" id="{D7F79EC4-9686-5DEE-3C37-D0D5A6C1B2B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0">
                <a:extLst>
                  <a:ext uri="{FF2B5EF4-FFF2-40B4-BE49-F238E27FC236}">
                    <a16:creationId xmlns:a16="http://schemas.microsoft.com/office/drawing/2014/main" id="{A526ECAA-E0DB-EFB2-0BC2-BED48816084C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11">
                <a:extLst>
                  <a:ext uri="{FF2B5EF4-FFF2-40B4-BE49-F238E27FC236}">
                    <a16:creationId xmlns:a16="http://schemas.microsoft.com/office/drawing/2014/main" id="{D998A1BB-A9B1-408D-03FE-81B9EB2EBFE5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12">
                <a:extLst>
                  <a:ext uri="{FF2B5EF4-FFF2-40B4-BE49-F238E27FC236}">
                    <a16:creationId xmlns:a16="http://schemas.microsoft.com/office/drawing/2014/main" id="{85061EC1-F399-902E-3147-110D73B6351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13">
                <a:extLst>
                  <a:ext uri="{FF2B5EF4-FFF2-40B4-BE49-F238E27FC236}">
                    <a16:creationId xmlns:a16="http://schemas.microsoft.com/office/drawing/2014/main" id="{68B583E0-24B1-2CE1-6AEF-4F098BC2D99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14">
                <a:extLst>
                  <a:ext uri="{FF2B5EF4-FFF2-40B4-BE49-F238E27FC236}">
                    <a16:creationId xmlns:a16="http://schemas.microsoft.com/office/drawing/2014/main" id="{7EAAF2DE-3968-A242-1F51-A4255007F7C7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15">
                <a:extLst>
                  <a:ext uri="{FF2B5EF4-FFF2-40B4-BE49-F238E27FC236}">
                    <a16:creationId xmlns:a16="http://schemas.microsoft.com/office/drawing/2014/main" id="{60D0F2DC-6CBB-9BDC-DBDB-B59C3E86245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16">
                <a:extLst>
                  <a:ext uri="{FF2B5EF4-FFF2-40B4-BE49-F238E27FC236}">
                    <a16:creationId xmlns:a16="http://schemas.microsoft.com/office/drawing/2014/main" id="{71E0FFE5-7350-5164-3B2C-56A0748A034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17">
                <a:extLst>
                  <a:ext uri="{FF2B5EF4-FFF2-40B4-BE49-F238E27FC236}">
                    <a16:creationId xmlns:a16="http://schemas.microsoft.com/office/drawing/2014/main" id="{2A4DB2B3-05BF-9694-F470-CD8F407B4D26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18">
                <a:extLst>
                  <a:ext uri="{FF2B5EF4-FFF2-40B4-BE49-F238E27FC236}">
                    <a16:creationId xmlns:a16="http://schemas.microsoft.com/office/drawing/2014/main" id="{3FD56547-D51F-29C1-85F8-832D4311C3B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19">
                <a:extLst>
                  <a:ext uri="{FF2B5EF4-FFF2-40B4-BE49-F238E27FC236}">
                    <a16:creationId xmlns:a16="http://schemas.microsoft.com/office/drawing/2014/main" id="{452E06A7-A3F0-A479-9504-02383DA1D94A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0">
                <a:extLst>
                  <a:ext uri="{FF2B5EF4-FFF2-40B4-BE49-F238E27FC236}">
                    <a16:creationId xmlns:a16="http://schemas.microsoft.com/office/drawing/2014/main" id="{089711B2-D333-8BA7-2670-A6F165E2A72D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21">
                <a:extLst>
                  <a:ext uri="{FF2B5EF4-FFF2-40B4-BE49-F238E27FC236}">
                    <a16:creationId xmlns:a16="http://schemas.microsoft.com/office/drawing/2014/main" id="{7250924D-9432-2C5D-86C3-428AB437F376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22">
                <a:extLst>
                  <a:ext uri="{FF2B5EF4-FFF2-40B4-BE49-F238E27FC236}">
                    <a16:creationId xmlns:a16="http://schemas.microsoft.com/office/drawing/2014/main" id="{B33BE31E-92D2-A2AE-EB7C-C462F036200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23">
                <a:extLst>
                  <a:ext uri="{FF2B5EF4-FFF2-40B4-BE49-F238E27FC236}">
                    <a16:creationId xmlns:a16="http://schemas.microsoft.com/office/drawing/2014/main" id="{1BF9BA1A-6B96-F984-3E88-40A74882256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24">
                <a:extLst>
                  <a:ext uri="{FF2B5EF4-FFF2-40B4-BE49-F238E27FC236}">
                    <a16:creationId xmlns:a16="http://schemas.microsoft.com/office/drawing/2014/main" id="{44F7CE6C-8C2B-B615-3019-F824B25033AF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25">
                <a:extLst>
                  <a:ext uri="{FF2B5EF4-FFF2-40B4-BE49-F238E27FC236}">
                    <a16:creationId xmlns:a16="http://schemas.microsoft.com/office/drawing/2014/main" id="{021E000C-0D0C-30B0-672A-A1FBB0DBC722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26">
                <a:extLst>
                  <a:ext uri="{FF2B5EF4-FFF2-40B4-BE49-F238E27FC236}">
                    <a16:creationId xmlns:a16="http://schemas.microsoft.com/office/drawing/2014/main" id="{36845214-0254-8D93-A979-2D37837C4E5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27">
                <a:extLst>
                  <a:ext uri="{FF2B5EF4-FFF2-40B4-BE49-F238E27FC236}">
                    <a16:creationId xmlns:a16="http://schemas.microsoft.com/office/drawing/2014/main" id="{266978D1-8558-9B37-C9C5-F9B9A8DD194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28">
                <a:extLst>
                  <a:ext uri="{FF2B5EF4-FFF2-40B4-BE49-F238E27FC236}">
                    <a16:creationId xmlns:a16="http://schemas.microsoft.com/office/drawing/2014/main" id="{0D8A6FBF-1F59-68BF-E012-47E3429FB806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29">
                <a:extLst>
                  <a:ext uri="{FF2B5EF4-FFF2-40B4-BE49-F238E27FC236}">
                    <a16:creationId xmlns:a16="http://schemas.microsoft.com/office/drawing/2014/main" id="{59F5177F-34EC-B9C1-07E2-8894F4713EE2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30">
                <a:extLst>
                  <a:ext uri="{FF2B5EF4-FFF2-40B4-BE49-F238E27FC236}">
                    <a16:creationId xmlns:a16="http://schemas.microsoft.com/office/drawing/2014/main" id="{2BD8CA03-65EA-017D-4ABD-37BB8D9AF76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31">
                <a:extLst>
                  <a:ext uri="{FF2B5EF4-FFF2-40B4-BE49-F238E27FC236}">
                    <a16:creationId xmlns:a16="http://schemas.microsoft.com/office/drawing/2014/main" id="{3140D4FD-DC8A-319B-72C1-F9A707653D8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32">
                <a:extLst>
                  <a:ext uri="{FF2B5EF4-FFF2-40B4-BE49-F238E27FC236}">
                    <a16:creationId xmlns:a16="http://schemas.microsoft.com/office/drawing/2014/main" id="{31DA3496-FCF6-05C0-E31C-E0B189DD96BE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33">
                <a:extLst>
                  <a:ext uri="{FF2B5EF4-FFF2-40B4-BE49-F238E27FC236}">
                    <a16:creationId xmlns:a16="http://schemas.microsoft.com/office/drawing/2014/main" id="{A3476359-D790-CE73-0BE7-E51339D188D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34">
                <a:extLst>
                  <a:ext uri="{FF2B5EF4-FFF2-40B4-BE49-F238E27FC236}">
                    <a16:creationId xmlns:a16="http://schemas.microsoft.com/office/drawing/2014/main" id="{DFFEDC8F-8004-865A-47ED-899E0EED9E1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35">
                <a:extLst>
                  <a:ext uri="{FF2B5EF4-FFF2-40B4-BE49-F238E27FC236}">
                    <a16:creationId xmlns:a16="http://schemas.microsoft.com/office/drawing/2014/main" id="{70507EC3-4C2B-B5CC-3EA0-FAE9176A7C0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36">
                <a:extLst>
                  <a:ext uri="{FF2B5EF4-FFF2-40B4-BE49-F238E27FC236}">
                    <a16:creationId xmlns:a16="http://schemas.microsoft.com/office/drawing/2014/main" id="{EAEF3CD2-0346-16AE-A623-9B42DE37CA1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37">
                <a:extLst>
                  <a:ext uri="{FF2B5EF4-FFF2-40B4-BE49-F238E27FC236}">
                    <a16:creationId xmlns:a16="http://schemas.microsoft.com/office/drawing/2014/main" id="{83E6984A-3613-721B-3EBC-9DF6BF677B4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38">
                <a:extLst>
                  <a:ext uri="{FF2B5EF4-FFF2-40B4-BE49-F238E27FC236}">
                    <a16:creationId xmlns:a16="http://schemas.microsoft.com/office/drawing/2014/main" id="{4E6E31FF-213A-B32C-7D66-A3E8A01F8A5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0FD9421-9811-CC25-6471-61AA46465442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65" name="Freeform: Shape 4">
              <a:extLst>
                <a:ext uri="{FF2B5EF4-FFF2-40B4-BE49-F238E27FC236}">
                  <a16:creationId xmlns:a16="http://schemas.microsoft.com/office/drawing/2014/main" id="{FDC9AB97-28D6-6E1D-88C4-DEB1D429C153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5">
              <a:extLst>
                <a:ext uri="{FF2B5EF4-FFF2-40B4-BE49-F238E27FC236}">
                  <a16:creationId xmlns:a16="http://schemas.microsoft.com/office/drawing/2014/main" id="{7A953041-8383-C51E-604A-11FB338AE1E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6">
              <a:extLst>
                <a:ext uri="{FF2B5EF4-FFF2-40B4-BE49-F238E27FC236}">
                  <a16:creationId xmlns:a16="http://schemas.microsoft.com/office/drawing/2014/main" id="{0AFA0B81-3F42-9049-93C9-21F61C7C62F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7">
              <a:extLst>
                <a:ext uri="{FF2B5EF4-FFF2-40B4-BE49-F238E27FC236}">
                  <a16:creationId xmlns:a16="http://schemas.microsoft.com/office/drawing/2014/main" id="{903E0289-B138-50C8-AD88-217F36CE1036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8">
              <a:extLst>
                <a:ext uri="{FF2B5EF4-FFF2-40B4-BE49-F238E27FC236}">
                  <a16:creationId xmlns:a16="http://schemas.microsoft.com/office/drawing/2014/main" id="{C557D9F0-413A-BB69-5B27-95DCAB23EAE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9">
              <a:extLst>
                <a:ext uri="{FF2B5EF4-FFF2-40B4-BE49-F238E27FC236}">
                  <a16:creationId xmlns:a16="http://schemas.microsoft.com/office/drawing/2014/main" id="{15B71BE2-9704-767C-AB53-0508737F576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10">
              <a:extLst>
                <a:ext uri="{FF2B5EF4-FFF2-40B4-BE49-F238E27FC236}">
                  <a16:creationId xmlns:a16="http://schemas.microsoft.com/office/drawing/2014/main" id="{E251B3E4-0DB0-B6E2-C3E5-2067B416FF53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11">
              <a:extLst>
                <a:ext uri="{FF2B5EF4-FFF2-40B4-BE49-F238E27FC236}">
                  <a16:creationId xmlns:a16="http://schemas.microsoft.com/office/drawing/2014/main" id="{1A84DFA9-9356-C009-88D6-AE6144977712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12">
              <a:extLst>
                <a:ext uri="{FF2B5EF4-FFF2-40B4-BE49-F238E27FC236}">
                  <a16:creationId xmlns:a16="http://schemas.microsoft.com/office/drawing/2014/main" id="{03CBEA60-1586-D588-29D4-369A80CC424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13">
              <a:extLst>
                <a:ext uri="{FF2B5EF4-FFF2-40B4-BE49-F238E27FC236}">
                  <a16:creationId xmlns:a16="http://schemas.microsoft.com/office/drawing/2014/main" id="{A7753450-A5EB-5E2B-67E1-FD7A023F8140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14">
              <a:extLst>
                <a:ext uri="{FF2B5EF4-FFF2-40B4-BE49-F238E27FC236}">
                  <a16:creationId xmlns:a16="http://schemas.microsoft.com/office/drawing/2014/main" id="{FF047C8C-9CD0-A279-50F4-37362FC866A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15">
              <a:extLst>
                <a:ext uri="{FF2B5EF4-FFF2-40B4-BE49-F238E27FC236}">
                  <a16:creationId xmlns:a16="http://schemas.microsoft.com/office/drawing/2014/main" id="{1EC7F0EE-0900-A6EE-BE7F-11348DF0F94C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16">
              <a:extLst>
                <a:ext uri="{FF2B5EF4-FFF2-40B4-BE49-F238E27FC236}">
                  <a16:creationId xmlns:a16="http://schemas.microsoft.com/office/drawing/2014/main" id="{5E24F986-D2CB-52B1-CEBA-3A588BDF88F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17">
              <a:extLst>
                <a:ext uri="{FF2B5EF4-FFF2-40B4-BE49-F238E27FC236}">
                  <a16:creationId xmlns:a16="http://schemas.microsoft.com/office/drawing/2014/main" id="{B2259A5D-134C-E8F3-4F32-8A20E155339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18">
              <a:extLst>
                <a:ext uri="{FF2B5EF4-FFF2-40B4-BE49-F238E27FC236}">
                  <a16:creationId xmlns:a16="http://schemas.microsoft.com/office/drawing/2014/main" id="{A26662E4-80E9-2319-594C-1D6E04F74C55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19">
              <a:extLst>
                <a:ext uri="{FF2B5EF4-FFF2-40B4-BE49-F238E27FC236}">
                  <a16:creationId xmlns:a16="http://schemas.microsoft.com/office/drawing/2014/main" id="{DF6848A1-D97B-DA2B-E1B4-F47B71941E6A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20">
              <a:extLst>
                <a:ext uri="{FF2B5EF4-FFF2-40B4-BE49-F238E27FC236}">
                  <a16:creationId xmlns:a16="http://schemas.microsoft.com/office/drawing/2014/main" id="{F797B80B-3A41-DB24-DEC9-B2EB07432A4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21">
              <a:extLst>
                <a:ext uri="{FF2B5EF4-FFF2-40B4-BE49-F238E27FC236}">
                  <a16:creationId xmlns:a16="http://schemas.microsoft.com/office/drawing/2014/main" id="{DC5C98C1-85F4-02DB-76A0-CA34882763CC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22">
              <a:extLst>
                <a:ext uri="{FF2B5EF4-FFF2-40B4-BE49-F238E27FC236}">
                  <a16:creationId xmlns:a16="http://schemas.microsoft.com/office/drawing/2014/main" id="{3BC44C6A-807C-0DB1-E0B3-DAA4E269C03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23">
              <a:extLst>
                <a:ext uri="{FF2B5EF4-FFF2-40B4-BE49-F238E27FC236}">
                  <a16:creationId xmlns:a16="http://schemas.microsoft.com/office/drawing/2014/main" id="{E7DFB86A-0CCF-CA81-8585-88E85294AB4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24">
              <a:extLst>
                <a:ext uri="{FF2B5EF4-FFF2-40B4-BE49-F238E27FC236}">
                  <a16:creationId xmlns:a16="http://schemas.microsoft.com/office/drawing/2014/main" id="{BF3B695E-C331-7A3C-352A-CD2A1245890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25">
              <a:extLst>
                <a:ext uri="{FF2B5EF4-FFF2-40B4-BE49-F238E27FC236}">
                  <a16:creationId xmlns:a16="http://schemas.microsoft.com/office/drawing/2014/main" id="{5D738F5B-1803-3F53-3713-A96680EB9CF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26">
              <a:extLst>
                <a:ext uri="{FF2B5EF4-FFF2-40B4-BE49-F238E27FC236}">
                  <a16:creationId xmlns:a16="http://schemas.microsoft.com/office/drawing/2014/main" id="{67A8A741-4CBF-1DFD-3489-959AEDE7C16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27">
              <a:extLst>
                <a:ext uri="{FF2B5EF4-FFF2-40B4-BE49-F238E27FC236}">
                  <a16:creationId xmlns:a16="http://schemas.microsoft.com/office/drawing/2014/main" id="{D3043017-5518-81F0-4098-556930150F8A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28">
              <a:extLst>
                <a:ext uri="{FF2B5EF4-FFF2-40B4-BE49-F238E27FC236}">
                  <a16:creationId xmlns:a16="http://schemas.microsoft.com/office/drawing/2014/main" id="{74E3EFE6-EA91-D7F0-9FC5-4C0045108F90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29">
              <a:extLst>
                <a:ext uri="{FF2B5EF4-FFF2-40B4-BE49-F238E27FC236}">
                  <a16:creationId xmlns:a16="http://schemas.microsoft.com/office/drawing/2014/main" id="{72AA5B5F-9569-679C-CDB2-075A21703BE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30">
              <a:extLst>
                <a:ext uri="{FF2B5EF4-FFF2-40B4-BE49-F238E27FC236}">
                  <a16:creationId xmlns:a16="http://schemas.microsoft.com/office/drawing/2014/main" id="{5F3EE73A-ACEB-30F2-589B-498AA7A60DB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31">
              <a:extLst>
                <a:ext uri="{FF2B5EF4-FFF2-40B4-BE49-F238E27FC236}">
                  <a16:creationId xmlns:a16="http://schemas.microsoft.com/office/drawing/2014/main" id="{E46290B7-1FA1-57DE-FCBF-86ED4947CC09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: Shape 32">
              <a:extLst>
                <a:ext uri="{FF2B5EF4-FFF2-40B4-BE49-F238E27FC236}">
                  <a16:creationId xmlns:a16="http://schemas.microsoft.com/office/drawing/2014/main" id="{E07CDCEB-B728-574A-9B99-8FACFD9E398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: Shape 33">
              <a:extLst>
                <a:ext uri="{FF2B5EF4-FFF2-40B4-BE49-F238E27FC236}">
                  <a16:creationId xmlns:a16="http://schemas.microsoft.com/office/drawing/2014/main" id="{E9941F6E-8D72-347E-BA8A-7A16001FD816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: Shape 34">
              <a:extLst>
                <a:ext uri="{FF2B5EF4-FFF2-40B4-BE49-F238E27FC236}">
                  <a16:creationId xmlns:a16="http://schemas.microsoft.com/office/drawing/2014/main" id="{768D11C5-8B68-E71F-E33F-A38255B5F837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: Shape 35">
              <a:extLst>
                <a:ext uri="{FF2B5EF4-FFF2-40B4-BE49-F238E27FC236}">
                  <a16:creationId xmlns:a16="http://schemas.microsoft.com/office/drawing/2014/main" id="{8C634F98-6B21-4135-1BFB-656226FC9A1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Freeform: Shape 36">
              <a:extLst>
                <a:ext uri="{FF2B5EF4-FFF2-40B4-BE49-F238E27FC236}">
                  <a16:creationId xmlns:a16="http://schemas.microsoft.com/office/drawing/2014/main" id="{7C527F1A-800F-933C-938A-5FA46857683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Freeform: Shape 37">
              <a:extLst>
                <a:ext uri="{FF2B5EF4-FFF2-40B4-BE49-F238E27FC236}">
                  <a16:creationId xmlns:a16="http://schemas.microsoft.com/office/drawing/2014/main" id="{2F6384AB-F924-3312-43A0-C2ADF34C583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: Shape 38">
              <a:extLst>
                <a:ext uri="{FF2B5EF4-FFF2-40B4-BE49-F238E27FC236}">
                  <a16:creationId xmlns:a16="http://schemas.microsoft.com/office/drawing/2014/main" id="{47DBADDA-FA0A-2845-0649-6F15C8E92E9E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045248F1-3FB6-6C4F-C029-474DB298D70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C5CF5EC2-6E46-8079-FE4F-972CB0B686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79861" y="122340"/>
            <a:ext cx="7242880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 Evaluation on OASIS Test Cohort</a:t>
            </a:r>
          </a:p>
        </p:txBody>
      </p:sp>
      <p:sp>
        <p:nvSpPr>
          <p:cNvPr id="102" name="Slide Number Placeholder 4">
            <a:extLst>
              <a:ext uri="{FF2B5EF4-FFF2-40B4-BE49-F238E27FC236}">
                <a16:creationId xmlns:a16="http://schemas.microsoft.com/office/drawing/2014/main" id="{C49AF53B-8174-D6DD-6B95-F4E222A2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7727900"/>
            <a:ext cx="111252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98964" y="1209675"/>
            <a:ext cx="4526309" cy="5305425"/>
          </a:xfrm>
          <a:prstGeom prst="roundRect">
            <a:avLst>
              <a:gd name="adj" fmla="val 168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33400" y="77279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33248"/>
            <a:ext cx="5885688" cy="59865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942976"/>
            <a:ext cx="5551170" cy="56504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7832675"/>
            <a:ext cx="3738562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Montserrat"/>
              </a:rPr>
              <a:t>Innovative Practices &amp; Quality Initiatives at SIT-N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7832675"/>
            <a:ext cx="800100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91B1B"/>
                </a:solidFill>
                <a:latin typeface="Montserrat"/>
              </a:rPr>
              <a:t>Slide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42900"/>
            <a:ext cx="8405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Montserrat"/>
              </a:rPr>
              <a:t>DETAILED CLASSIFICATION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890" y="2952006"/>
            <a:ext cx="483110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Montserrat"/>
              </a:rPr>
              <a:t>Clinical Error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890" y="3309118"/>
            <a:ext cx="420245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 dirty="0">
                <a:solidFill>
                  <a:srgbClr val="0F172A"/>
                </a:solidFill>
                <a:latin typeface="Montserrat"/>
              </a:rPr>
              <a:t>True Negatives (CDR=0):</a:t>
            </a:r>
            <a:r>
              <a:rPr sz="975" b="0" i="0" u="none" dirty="0">
                <a:solidFill>
                  <a:srgbClr val="334155"/>
                </a:solidFill>
                <a:latin typeface="Montserrat"/>
              </a:rPr>
              <a:t> 37 cases accurately confirmed as healthy controls (0.84 precision).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890" y="3794893"/>
            <a:ext cx="420245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Montserrat"/>
              </a:rPr>
              <a:t>True Positives (CDR&gt;0):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18 cases correctly flagged for cognitive impairment (0.72 recall).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890" y="4280668"/>
            <a:ext cx="4202459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991B1B"/>
                </a:solidFill>
                <a:latin typeface="Montserrat"/>
              </a:rPr>
              <a:t>False Positives (14):</a:t>
            </a:r>
            <a:r>
              <a:rPr sz="975" b="0" i="0" u="none">
                <a:solidFill>
                  <a:srgbClr val="334155"/>
                </a:solidFill>
                <a:latin typeface="Montserrat"/>
              </a:rPr>
              <a:t> Patients with benign aging atrophy misflagged by tabular models alone—resolvable via multimodal cross-attention.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F2A7EA-2347-6B84-CDA0-DA0471AA7D28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9AB646-ACDD-2284-E868-D3D0BFF5D02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60C4042-2D9B-15E1-88BB-802CD2D73804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21" name="Freeform: Shape 4">
                <a:extLst>
                  <a:ext uri="{FF2B5EF4-FFF2-40B4-BE49-F238E27FC236}">
                    <a16:creationId xmlns:a16="http://schemas.microsoft.com/office/drawing/2014/main" id="{1CB23ABC-AC7C-7676-9A31-6699B219B72C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5">
                <a:extLst>
                  <a:ext uri="{FF2B5EF4-FFF2-40B4-BE49-F238E27FC236}">
                    <a16:creationId xmlns:a16="http://schemas.microsoft.com/office/drawing/2014/main" id="{EF3CEE31-18C7-66DD-CB49-437AA8524C3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6">
                <a:extLst>
                  <a:ext uri="{FF2B5EF4-FFF2-40B4-BE49-F238E27FC236}">
                    <a16:creationId xmlns:a16="http://schemas.microsoft.com/office/drawing/2014/main" id="{8F7DB946-9FB0-10C3-9D8E-D5DE93411CC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7">
                <a:extLst>
                  <a:ext uri="{FF2B5EF4-FFF2-40B4-BE49-F238E27FC236}">
                    <a16:creationId xmlns:a16="http://schemas.microsoft.com/office/drawing/2014/main" id="{155E46C3-0C3F-E3F7-6121-622B0B9F43C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8">
                <a:extLst>
                  <a:ext uri="{FF2B5EF4-FFF2-40B4-BE49-F238E27FC236}">
                    <a16:creationId xmlns:a16="http://schemas.microsoft.com/office/drawing/2014/main" id="{FCF01BEF-1311-A090-CEC7-4972C5C8853D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9">
                <a:extLst>
                  <a:ext uri="{FF2B5EF4-FFF2-40B4-BE49-F238E27FC236}">
                    <a16:creationId xmlns:a16="http://schemas.microsoft.com/office/drawing/2014/main" id="{5778E176-02D4-DE8F-0576-FA07D7EFAD3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10">
                <a:extLst>
                  <a:ext uri="{FF2B5EF4-FFF2-40B4-BE49-F238E27FC236}">
                    <a16:creationId xmlns:a16="http://schemas.microsoft.com/office/drawing/2014/main" id="{306DA775-90E0-D203-AE26-ED8206AF845C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1">
                <a:extLst>
                  <a:ext uri="{FF2B5EF4-FFF2-40B4-BE49-F238E27FC236}">
                    <a16:creationId xmlns:a16="http://schemas.microsoft.com/office/drawing/2014/main" id="{B3E12449-7BFA-7D4B-5161-5DD8B9FB7D4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2">
                <a:extLst>
                  <a:ext uri="{FF2B5EF4-FFF2-40B4-BE49-F238E27FC236}">
                    <a16:creationId xmlns:a16="http://schemas.microsoft.com/office/drawing/2014/main" id="{11520CCE-47BA-00A3-646B-3780310E8366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3">
                <a:extLst>
                  <a:ext uri="{FF2B5EF4-FFF2-40B4-BE49-F238E27FC236}">
                    <a16:creationId xmlns:a16="http://schemas.microsoft.com/office/drawing/2014/main" id="{FFDE847F-A2D5-F196-428C-B7C4EC3F480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14">
                <a:extLst>
                  <a:ext uri="{FF2B5EF4-FFF2-40B4-BE49-F238E27FC236}">
                    <a16:creationId xmlns:a16="http://schemas.microsoft.com/office/drawing/2014/main" id="{BE5A424F-BFEC-D104-03B8-BD36B6C5A670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15">
                <a:extLst>
                  <a:ext uri="{FF2B5EF4-FFF2-40B4-BE49-F238E27FC236}">
                    <a16:creationId xmlns:a16="http://schemas.microsoft.com/office/drawing/2014/main" id="{EEA2851D-9B5F-53C4-241C-4518F874A1A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16">
                <a:extLst>
                  <a:ext uri="{FF2B5EF4-FFF2-40B4-BE49-F238E27FC236}">
                    <a16:creationId xmlns:a16="http://schemas.microsoft.com/office/drawing/2014/main" id="{AEEFB8F1-BB61-F4C8-6E93-CF3865976BD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17">
                <a:extLst>
                  <a:ext uri="{FF2B5EF4-FFF2-40B4-BE49-F238E27FC236}">
                    <a16:creationId xmlns:a16="http://schemas.microsoft.com/office/drawing/2014/main" id="{6C08729B-9398-EEC2-FC47-E416B2A2F4EA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8">
                <a:extLst>
                  <a:ext uri="{FF2B5EF4-FFF2-40B4-BE49-F238E27FC236}">
                    <a16:creationId xmlns:a16="http://schemas.microsoft.com/office/drawing/2014/main" id="{54913817-2FAA-8A6A-7556-6B06F86061DA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19">
                <a:extLst>
                  <a:ext uri="{FF2B5EF4-FFF2-40B4-BE49-F238E27FC236}">
                    <a16:creationId xmlns:a16="http://schemas.microsoft.com/office/drawing/2014/main" id="{2E2C2C5F-07BA-CD73-FCDC-A83F83BA7065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20">
                <a:extLst>
                  <a:ext uri="{FF2B5EF4-FFF2-40B4-BE49-F238E27FC236}">
                    <a16:creationId xmlns:a16="http://schemas.microsoft.com/office/drawing/2014/main" id="{D3F13659-8B9E-EF9A-EA9A-6D7531414613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1">
                <a:extLst>
                  <a:ext uri="{FF2B5EF4-FFF2-40B4-BE49-F238E27FC236}">
                    <a16:creationId xmlns:a16="http://schemas.microsoft.com/office/drawing/2014/main" id="{C4D730D7-F725-CC7E-4FE2-A6B7D2570DC2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2">
                <a:extLst>
                  <a:ext uri="{FF2B5EF4-FFF2-40B4-BE49-F238E27FC236}">
                    <a16:creationId xmlns:a16="http://schemas.microsoft.com/office/drawing/2014/main" id="{E7972904-0B90-2D0B-64BA-0899B9BD8B9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3">
                <a:extLst>
                  <a:ext uri="{FF2B5EF4-FFF2-40B4-BE49-F238E27FC236}">
                    <a16:creationId xmlns:a16="http://schemas.microsoft.com/office/drawing/2014/main" id="{0DCBE412-CB62-9B79-EF45-677148BD3B29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24">
                <a:extLst>
                  <a:ext uri="{FF2B5EF4-FFF2-40B4-BE49-F238E27FC236}">
                    <a16:creationId xmlns:a16="http://schemas.microsoft.com/office/drawing/2014/main" id="{F68AAAF2-4F8E-4A83-78E2-15E983BD654D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25">
                <a:extLst>
                  <a:ext uri="{FF2B5EF4-FFF2-40B4-BE49-F238E27FC236}">
                    <a16:creationId xmlns:a16="http://schemas.microsoft.com/office/drawing/2014/main" id="{AB984FAF-870E-2D64-13CE-86E737D9027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26">
                <a:extLst>
                  <a:ext uri="{FF2B5EF4-FFF2-40B4-BE49-F238E27FC236}">
                    <a16:creationId xmlns:a16="http://schemas.microsoft.com/office/drawing/2014/main" id="{9ABA2A80-1C3A-D202-EA42-7AF95D466BB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27">
                <a:extLst>
                  <a:ext uri="{FF2B5EF4-FFF2-40B4-BE49-F238E27FC236}">
                    <a16:creationId xmlns:a16="http://schemas.microsoft.com/office/drawing/2014/main" id="{E3EEFA8A-5EAE-1016-610E-D007F8530846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8">
                <a:extLst>
                  <a:ext uri="{FF2B5EF4-FFF2-40B4-BE49-F238E27FC236}">
                    <a16:creationId xmlns:a16="http://schemas.microsoft.com/office/drawing/2014/main" id="{95D9BEFA-2DCC-2C19-2E8A-D04990F862F1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29">
                <a:extLst>
                  <a:ext uri="{FF2B5EF4-FFF2-40B4-BE49-F238E27FC236}">
                    <a16:creationId xmlns:a16="http://schemas.microsoft.com/office/drawing/2014/main" id="{0CF895B7-8234-E792-3772-D830210155F4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30">
                <a:extLst>
                  <a:ext uri="{FF2B5EF4-FFF2-40B4-BE49-F238E27FC236}">
                    <a16:creationId xmlns:a16="http://schemas.microsoft.com/office/drawing/2014/main" id="{44C8B290-61F3-FA37-EAAE-3FD123A4958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1">
                <a:extLst>
                  <a:ext uri="{FF2B5EF4-FFF2-40B4-BE49-F238E27FC236}">
                    <a16:creationId xmlns:a16="http://schemas.microsoft.com/office/drawing/2014/main" id="{73310108-761D-8723-EC54-6590ADA8019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2">
                <a:extLst>
                  <a:ext uri="{FF2B5EF4-FFF2-40B4-BE49-F238E27FC236}">
                    <a16:creationId xmlns:a16="http://schemas.microsoft.com/office/drawing/2014/main" id="{B93AA06E-9CE2-F2C5-BD64-E7F19D393FDC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3">
                <a:extLst>
                  <a:ext uri="{FF2B5EF4-FFF2-40B4-BE49-F238E27FC236}">
                    <a16:creationId xmlns:a16="http://schemas.microsoft.com/office/drawing/2014/main" id="{39C84B58-FAE5-36C8-FA18-9345878C5C8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34">
                <a:extLst>
                  <a:ext uri="{FF2B5EF4-FFF2-40B4-BE49-F238E27FC236}">
                    <a16:creationId xmlns:a16="http://schemas.microsoft.com/office/drawing/2014/main" id="{D60144E2-E691-ADDF-A216-9495418C50B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35">
                <a:extLst>
                  <a:ext uri="{FF2B5EF4-FFF2-40B4-BE49-F238E27FC236}">
                    <a16:creationId xmlns:a16="http://schemas.microsoft.com/office/drawing/2014/main" id="{FBB83EA6-9185-8F61-95F1-8CF72EC9C2A2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36">
                <a:extLst>
                  <a:ext uri="{FF2B5EF4-FFF2-40B4-BE49-F238E27FC236}">
                    <a16:creationId xmlns:a16="http://schemas.microsoft.com/office/drawing/2014/main" id="{92780A41-656F-39AA-8B49-2F7DDAB79B9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37">
                <a:extLst>
                  <a:ext uri="{FF2B5EF4-FFF2-40B4-BE49-F238E27FC236}">
                    <a16:creationId xmlns:a16="http://schemas.microsoft.com/office/drawing/2014/main" id="{1A0B2F88-3A24-A5E9-F6D1-B13224136116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38">
                <a:extLst>
                  <a:ext uri="{FF2B5EF4-FFF2-40B4-BE49-F238E27FC236}">
                    <a16:creationId xmlns:a16="http://schemas.microsoft.com/office/drawing/2014/main" id="{A10DA1B7-4C72-CB62-EE26-07E3ECB97EDB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6BC38D9-DA38-956A-D9BB-2F47CBAB4C4B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57" name="Freeform: Shape 4">
              <a:extLst>
                <a:ext uri="{FF2B5EF4-FFF2-40B4-BE49-F238E27FC236}">
                  <a16:creationId xmlns:a16="http://schemas.microsoft.com/office/drawing/2014/main" id="{8A6859CD-2A9D-A9E0-A30D-AA82174A26DA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5">
              <a:extLst>
                <a:ext uri="{FF2B5EF4-FFF2-40B4-BE49-F238E27FC236}">
                  <a16:creationId xmlns:a16="http://schemas.microsoft.com/office/drawing/2014/main" id="{8B230C52-DE88-3F91-8B13-2E6F3CFF336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6">
              <a:extLst>
                <a:ext uri="{FF2B5EF4-FFF2-40B4-BE49-F238E27FC236}">
                  <a16:creationId xmlns:a16="http://schemas.microsoft.com/office/drawing/2014/main" id="{805A52FC-BA7F-36B1-3606-93E0A368F024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7">
              <a:extLst>
                <a:ext uri="{FF2B5EF4-FFF2-40B4-BE49-F238E27FC236}">
                  <a16:creationId xmlns:a16="http://schemas.microsoft.com/office/drawing/2014/main" id="{F432DE37-003F-AE24-4983-F5ADCA01AF03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8">
              <a:extLst>
                <a:ext uri="{FF2B5EF4-FFF2-40B4-BE49-F238E27FC236}">
                  <a16:creationId xmlns:a16="http://schemas.microsoft.com/office/drawing/2014/main" id="{2B8C3EA2-C4EA-EBA6-9E19-A26CA60E4985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9">
              <a:extLst>
                <a:ext uri="{FF2B5EF4-FFF2-40B4-BE49-F238E27FC236}">
                  <a16:creationId xmlns:a16="http://schemas.microsoft.com/office/drawing/2014/main" id="{880E318C-D0AC-AE83-12AE-E131FF78A27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10">
              <a:extLst>
                <a:ext uri="{FF2B5EF4-FFF2-40B4-BE49-F238E27FC236}">
                  <a16:creationId xmlns:a16="http://schemas.microsoft.com/office/drawing/2014/main" id="{486F497D-AF77-A126-F580-E8D90AC4E15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11">
              <a:extLst>
                <a:ext uri="{FF2B5EF4-FFF2-40B4-BE49-F238E27FC236}">
                  <a16:creationId xmlns:a16="http://schemas.microsoft.com/office/drawing/2014/main" id="{5B6C6EE5-7BE2-D54D-A120-6AE77254EE6D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12">
              <a:extLst>
                <a:ext uri="{FF2B5EF4-FFF2-40B4-BE49-F238E27FC236}">
                  <a16:creationId xmlns:a16="http://schemas.microsoft.com/office/drawing/2014/main" id="{9E09B8CA-6280-BB5D-EDDC-04AEF74F57BF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13">
              <a:extLst>
                <a:ext uri="{FF2B5EF4-FFF2-40B4-BE49-F238E27FC236}">
                  <a16:creationId xmlns:a16="http://schemas.microsoft.com/office/drawing/2014/main" id="{30BA1123-9B08-8C43-394B-B50D20B80B8E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14">
              <a:extLst>
                <a:ext uri="{FF2B5EF4-FFF2-40B4-BE49-F238E27FC236}">
                  <a16:creationId xmlns:a16="http://schemas.microsoft.com/office/drawing/2014/main" id="{756148EA-E87D-8C75-2E5E-4693E5358A9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15">
              <a:extLst>
                <a:ext uri="{FF2B5EF4-FFF2-40B4-BE49-F238E27FC236}">
                  <a16:creationId xmlns:a16="http://schemas.microsoft.com/office/drawing/2014/main" id="{B330BA1B-ECAE-79E5-0CA8-40EB9428E786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16">
              <a:extLst>
                <a:ext uri="{FF2B5EF4-FFF2-40B4-BE49-F238E27FC236}">
                  <a16:creationId xmlns:a16="http://schemas.microsoft.com/office/drawing/2014/main" id="{4ABE3948-0D23-81C9-CFFC-46F5623FA66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17">
              <a:extLst>
                <a:ext uri="{FF2B5EF4-FFF2-40B4-BE49-F238E27FC236}">
                  <a16:creationId xmlns:a16="http://schemas.microsoft.com/office/drawing/2014/main" id="{46C5D796-84A8-9C92-FED2-2BE8B44AEFE7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18">
              <a:extLst>
                <a:ext uri="{FF2B5EF4-FFF2-40B4-BE49-F238E27FC236}">
                  <a16:creationId xmlns:a16="http://schemas.microsoft.com/office/drawing/2014/main" id="{FCFD05F5-B94B-19C3-250F-92151D56524F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19">
              <a:extLst>
                <a:ext uri="{FF2B5EF4-FFF2-40B4-BE49-F238E27FC236}">
                  <a16:creationId xmlns:a16="http://schemas.microsoft.com/office/drawing/2014/main" id="{8B033E22-3B1E-1EC3-9AAE-4F098FA5B9D8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20">
              <a:extLst>
                <a:ext uri="{FF2B5EF4-FFF2-40B4-BE49-F238E27FC236}">
                  <a16:creationId xmlns:a16="http://schemas.microsoft.com/office/drawing/2014/main" id="{B5943B7F-5486-D5B2-985F-914A67EF6985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21">
              <a:extLst>
                <a:ext uri="{FF2B5EF4-FFF2-40B4-BE49-F238E27FC236}">
                  <a16:creationId xmlns:a16="http://schemas.microsoft.com/office/drawing/2014/main" id="{D4AE13B3-4F2D-50F4-45CD-3E3DCF55F41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22">
              <a:extLst>
                <a:ext uri="{FF2B5EF4-FFF2-40B4-BE49-F238E27FC236}">
                  <a16:creationId xmlns:a16="http://schemas.microsoft.com/office/drawing/2014/main" id="{77DA8DE0-8F89-C62D-4115-438BF0ECBFFD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23">
              <a:extLst>
                <a:ext uri="{FF2B5EF4-FFF2-40B4-BE49-F238E27FC236}">
                  <a16:creationId xmlns:a16="http://schemas.microsoft.com/office/drawing/2014/main" id="{5A799108-5DF0-180E-7CF4-14C8CEC8CB20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24">
              <a:extLst>
                <a:ext uri="{FF2B5EF4-FFF2-40B4-BE49-F238E27FC236}">
                  <a16:creationId xmlns:a16="http://schemas.microsoft.com/office/drawing/2014/main" id="{A43AEA74-5F39-9025-3E35-66496E81C5B5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25">
              <a:extLst>
                <a:ext uri="{FF2B5EF4-FFF2-40B4-BE49-F238E27FC236}">
                  <a16:creationId xmlns:a16="http://schemas.microsoft.com/office/drawing/2014/main" id="{FA696152-E66B-42DF-E759-BA60625BE134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26">
              <a:extLst>
                <a:ext uri="{FF2B5EF4-FFF2-40B4-BE49-F238E27FC236}">
                  <a16:creationId xmlns:a16="http://schemas.microsoft.com/office/drawing/2014/main" id="{9EEAAB66-EE2B-8BE9-FB7B-9ECA5EB7C11B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27">
              <a:extLst>
                <a:ext uri="{FF2B5EF4-FFF2-40B4-BE49-F238E27FC236}">
                  <a16:creationId xmlns:a16="http://schemas.microsoft.com/office/drawing/2014/main" id="{E4611085-AD64-726A-5C5E-FCAED80FB4C4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28">
              <a:extLst>
                <a:ext uri="{FF2B5EF4-FFF2-40B4-BE49-F238E27FC236}">
                  <a16:creationId xmlns:a16="http://schemas.microsoft.com/office/drawing/2014/main" id="{8CBB7262-CC2F-284C-9D14-6200B79E2DE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29">
              <a:extLst>
                <a:ext uri="{FF2B5EF4-FFF2-40B4-BE49-F238E27FC236}">
                  <a16:creationId xmlns:a16="http://schemas.microsoft.com/office/drawing/2014/main" id="{D9359B38-E00B-1AFB-DEF2-A943DE903F8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30">
              <a:extLst>
                <a:ext uri="{FF2B5EF4-FFF2-40B4-BE49-F238E27FC236}">
                  <a16:creationId xmlns:a16="http://schemas.microsoft.com/office/drawing/2014/main" id="{90FDA8CC-FFA7-4760-0A98-B08386C1124E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31">
              <a:extLst>
                <a:ext uri="{FF2B5EF4-FFF2-40B4-BE49-F238E27FC236}">
                  <a16:creationId xmlns:a16="http://schemas.microsoft.com/office/drawing/2014/main" id="{095ADC59-5E38-0E35-A6F1-9F122221BCE1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32">
              <a:extLst>
                <a:ext uri="{FF2B5EF4-FFF2-40B4-BE49-F238E27FC236}">
                  <a16:creationId xmlns:a16="http://schemas.microsoft.com/office/drawing/2014/main" id="{8C1EF316-B992-30FB-178F-9B4869F4C60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33">
              <a:extLst>
                <a:ext uri="{FF2B5EF4-FFF2-40B4-BE49-F238E27FC236}">
                  <a16:creationId xmlns:a16="http://schemas.microsoft.com/office/drawing/2014/main" id="{BDF151A2-EE66-8385-3975-D72BDED6072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34">
              <a:extLst>
                <a:ext uri="{FF2B5EF4-FFF2-40B4-BE49-F238E27FC236}">
                  <a16:creationId xmlns:a16="http://schemas.microsoft.com/office/drawing/2014/main" id="{05CB42EE-37FC-9A12-0E13-B465B39E5689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35">
              <a:extLst>
                <a:ext uri="{FF2B5EF4-FFF2-40B4-BE49-F238E27FC236}">
                  <a16:creationId xmlns:a16="http://schemas.microsoft.com/office/drawing/2014/main" id="{A3D9CC23-C95F-8B81-C2F4-6D18F23923B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36">
              <a:extLst>
                <a:ext uri="{FF2B5EF4-FFF2-40B4-BE49-F238E27FC236}">
                  <a16:creationId xmlns:a16="http://schemas.microsoft.com/office/drawing/2014/main" id="{84239C9F-238B-CEF8-F82C-5C8C93CF482A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37">
              <a:extLst>
                <a:ext uri="{FF2B5EF4-FFF2-40B4-BE49-F238E27FC236}">
                  <a16:creationId xmlns:a16="http://schemas.microsoft.com/office/drawing/2014/main" id="{5B0DB116-89FC-5BA0-80EB-96BF9DDB1BAE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38">
              <a:extLst>
                <a:ext uri="{FF2B5EF4-FFF2-40B4-BE49-F238E27FC236}">
                  <a16:creationId xmlns:a16="http://schemas.microsoft.com/office/drawing/2014/main" id="{DE708325-2B8B-D350-E70C-BD71A24805E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99723F7A-80A0-4A48-07AA-CC71ACE47398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E646FE8-E7B3-CB09-C6A3-F5F0231ED2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84" y="103363"/>
            <a:ext cx="8385309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 Classification Report &amp; Confusion Matrix</a:t>
            </a:r>
          </a:p>
        </p:txBody>
      </p:sp>
      <p:sp>
        <p:nvSpPr>
          <p:cNvPr id="94" name="Slide Number Placeholder 4">
            <a:extLst>
              <a:ext uri="{FF2B5EF4-FFF2-40B4-BE49-F238E27FC236}">
                <a16:creationId xmlns:a16="http://schemas.microsoft.com/office/drawing/2014/main" id="{EC37C704-BCFE-C8F9-19D4-991C14E7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200775"/>
            <a:ext cx="110490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500" y="1228725"/>
            <a:ext cx="5410200" cy="4743450"/>
          </a:xfrm>
          <a:prstGeom prst="roundRect">
            <a:avLst>
              <a:gd name="adj" fmla="val 2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228725"/>
            <a:ext cx="5410200" cy="4743450"/>
          </a:xfrm>
          <a:prstGeom prst="roundRect">
            <a:avLst>
              <a:gd name="adj" fmla="val 2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6200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228725"/>
            <a:ext cx="38100" cy="47434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0300" y="1228725"/>
            <a:ext cx="38100" cy="474345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7075" y="547687"/>
            <a:ext cx="1019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SIT-N / PBL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324600"/>
            <a:ext cx="3738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Montserrat"/>
              </a:rPr>
              <a:t>Innovative Practices &amp; Quality Initiatives at SIT-N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324600"/>
            <a:ext cx="733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91B1B"/>
                </a:solidFill>
                <a:latin typeface="Montserrat"/>
              </a:rPr>
              <a:t>Slide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81000"/>
            <a:ext cx="6322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Montserrat"/>
              </a:rPr>
              <a:t>HEALTHCARE ANALYTICS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121818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Montserrat"/>
              </a:rPr>
              <a:t>Cognitive Reserve Buffer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436143"/>
            <a:ext cx="4972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Montserrat"/>
              </a:rPr>
              <a:t>Patients with higher education years (EDUC &gt; 16) exhibited substantial hippocampal volume loss while maintaining CDR 0 ratings, demonstrating neural resilience.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3121818"/>
            <a:ext cx="56959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Montserrat"/>
              </a:rPr>
              <a:t>Pre-Symptomatic Atrophy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3436143"/>
            <a:ext cx="49720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Montserrat"/>
              </a:rPr>
              <a:t>Low normalized whole brain volume (nWBV) paired with normal MMSE scores preceded clinical dementia conversion in OASIS-2 longitudinal visits by over 1.5 years.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BFF89B-FFB5-E338-7045-C43894F6E17F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D92DD-3228-792C-D06B-53F24E8C1CF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7B36212-7AFF-9B2A-A10C-84FFB705C03B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20" name="Freeform: Shape 4">
                <a:extLst>
                  <a:ext uri="{FF2B5EF4-FFF2-40B4-BE49-F238E27FC236}">
                    <a16:creationId xmlns:a16="http://schemas.microsoft.com/office/drawing/2014/main" id="{62F4303F-84B3-9B64-F497-ED410805C20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Freeform: Shape 5">
                <a:extLst>
                  <a:ext uri="{FF2B5EF4-FFF2-40B4-BE49-F238E27FC236}">
                    <a16:creationId xmlns:a16="http://schemas.microsoft.com/office/drawing/2014/main" id="{FED9C75A-41B3-ADD6-E3F1-3706999F57B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6">
                <a:extLst>
                  <a:ext uri="{FF2B5EF4-FFF2-40B4-BE49-F238E27FC236}">
                    <a16:creationId xmlns:a16="http://schemas.microsoft.com/office/drawing/2014/main" id="{8A5BE919-281F-A526-1CAA-1D8FD390D1D5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7">
                <a:extLst>
                  <a:ext uri="{FF2B5EF4-FFF2-40B4-BE49-F238E27FC236}">
                    <a16:creationId xmlns:a16="http://schemas.microsoft.com/office/drawing/2014/main" id="{AE1944DC-B59B-23AD-D3CB-B1114D07E22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8">
                <a:extLst>
                  <a:ext uri="{FF2B5EF4-FFF2-40B4-BE49-F238E27FC236}">
                    <a16:creationId xmlns:a16="http://schemas.microsoft.com/office/drawing/2014/main" id="{38D2EA9E-1505-1C38-F5B5-11EEDF87B93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9">
                <a:extLst>
                  <a:ext uri="{FF2B5EF4-FFF2-40B4-BE49-F238E27FC236}">
                    <a16:creationId xmlns:a16="http://schemas.microsoft.com/office/drawing/2014/main" id="{74DC2B05-70E4-8114-4FA1-C48BD7B2152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10">
                <a:extLst>
                  <a:ext uri="{FF2B5EF4-FFF2-40B4-BE49-F238E27FC236}">
                    <a16:creationId xmlns:a16="http://schemas.microsoft.com/office/drawing/2014/main" id="{9A9FE1FA-1AED-6063-5285-961CD7AE8CD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11">
                <a:extLst>
                  <a:ext uri="{FF2B5EF4-FFF2-40B4-BE49-F238E27FC236}">
                    <a16:creationId xmlns:a16="http://schemas.microsoft.com/office/drawing/2014/main" id="{3825E133-3190-7BF4-2D12-95DA9032679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2">
                <a:extLst>
                  <a:ext uri="{FF2B5EF4-FFF2-40B4-BE49-F238E27FC236}">
                    <a16:creationId xmlns:a16="http://schemas.microsoft.com/office/drawing/2014/main" id="{A8B60C0B-913D-C233-DC95-24790507A3D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3">
                <a:extLst>
                  <a:ext uri="{FF2B5EF4-FFF2-40B4-BE49-F238E27FC236}">
                    <a16:creationId xmlns:a16="http://schemas.microsoft.com/office/drawing/2014/main" id="{71B9BB46-0AE4-B580-3F73-252ADC5FC7B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4">
                <a:extLst>
                  <a:ext uri="{FF2B5EF4-FFF2-40B4-BE49-F238E27FC236}">
                    <a16:creationId xmlns:a16="http://schemas.microsoft.com/office/drawing/2014/main" id="{ABF940F7-6EC7-6031-CBEA-DBC15CD741A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15">
                <a:extLst>
                  <a:ext uri="{FF2B5EF4-FFF2-40B4-BE49-F238E27FC236}">
                    <a16:creationId xmlns:a16="http://schemas.microsoft.com/office/drawing/2014/main" id="{3F6E2E93-F3CC-95C7-417F-08AC595FB72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16">
                <a:extLst>
                  <a:ext uri="{FF2B5EF4-FFF2-40B4-BE49-F238E27FC236}">
                    <a16:creationId xmlns:a16="http://schemas.microsoft.com/office/drawing/2014/main" id="{92621373-163B-C06E-DD23-C97C321CCAC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17">
                <a:extLst>
                  <a:ext uri="{FF2B5EF4-FFF2-40B4-BE49-F238E27FC236}">
                    <a16:creationId xmlns:a16="http://schemas.microsoft.com/office/drawing/2014/main" id="{8B4F4016-9A3E-82F8-B0DE-8BD3AD66019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18">
                <a:extLst>
                  <a:ext uri="{FF2B5EF4-FFF2-40B4-BE49-F238E27FC236}">
                    <a16:creationId xmlns:a16="http://schemas.microsoft.com/office/drawing/2014/main" id="{EA018D0E-36CA-79B5-BB1F-0859F50285CB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9">
                <a:extLst>
                  <a:ext uri="{FF2B5EF4-FFF2-40B4-BE49-F238E27FC236}">
                    <a16:creationId xmlns:a16="http://schemas.microsoft.com/office/drawing/2014/main" id="{5FDF7133-A97D-DF65-A1D5-51855005DFE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20">
                <a:extLst>
                  <a:ext uri="{FF2B5EF4-FFF2-40B4-BE49-F238E27FC236}">
                    <a16:creationId xmlns:a16="http://schemas.microsoft.com/office/drawing/2014/main" id="{9CA76EB3-D8B9-9133-4503-2119CFA8228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21">
                <a:extLst>
                  <a:ext uri="{FF2B5EF4-FFF2-40B4-BE49-F238E27FC236}">
                    <a16:creationId xmlns:a16="http://schemas.microsoft.com/office/drawing/2014/main" id="{62C5EE3D-5001-8284-CB27-577F3CC78B38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2">
                <a:extLst>
                  <a:ext uri="{FF2B5EF4-FFF2-40B4-BE49-F238E27FC236}">
                    <a16:creationId xmlns:a16="http://schemas.microsoft.com/office/drawing/2014/main" id="{E0D28A0B-D7F2-A393-AB9E-B94C4C9B344F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3">
                <a:extLst>
                  <a:ext uri="{FF2B5EF4-FFF2-40B4-BE49-F238E27FC236}">
                    <a16:creationId xmlns:a16="http://schemas.microsoft.com/office/drawing/2014/main" id="{610E9FD0-C626-7816-DB33-F220D34C46D6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4">
                <a:extLst>
                  <a:ext uri="{FF2B5EF4-FFF2-40B4-BE49-F238E27FC236}">
                    <a16:creationId xmlns:a16="http://schemas.microsoft.com/office/drawing/2014/main" id="{9595B92E-ECAE-6CB1-369A-CEE9AC614D7D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25">
                <a:extLst>
                  <a:ext uri="{FF2B5EF4-FFF2-40B4-BE49-F238E27FC236}">
                    <a16:creationId xmlns:a16="http://schemas.microsoft.com/office/drawing/2014/main" id="{383D4380-1B79-A2F8-5203-AE1A5434216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26">
                <a:extLst>
                  <a:ext uri="{FF2B5EF4-FFF2-40B4-BE49-F238E27FC236}">
                    <a16:creationId xmlns:a16="http://schemas.microsoft.com/office/drawing/2014/main" id="{B0362554-297E-76F2-BA89-62ACD05F4A3D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27">
                <a:extLst>
                  <a:ext uri="{FF2B5EF4-FFF2-40B4-BE49-F238E27FC236}">
                    <a16:creationId xmlns:a16="http://schemas.microsoft.com/office/drawing/2014/main" id="{D5E6231D-EEE6-F5A6-2B2C-128A57964F0F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28">
                <a:extLst>
                  <a:ext uri="{FF2B5EF4-FFF2-40B4-BE49-F238E27FC236}">
                    <a16:creationId xmlns:a16="http://schemas.microsoft.com/office/drawing/2014/main" id="{9D057E2E-01D7-0CAF-76E1-1908B0FAC233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9">
                <a:extLst>
                  <a:ext uri="{FF2B5EF4-FFF2-40B4-BE49-F238E27FC236}">
                    <a16:creationId xmlns:a16="http://schemas.microsoft.com/office/drawing/2014/main" id="{E7EB7B87-BE23-DA8F-1760-76BC7C87577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30">
                <a:extLst>
                  <a:ext uri="{FF2B5EF4-FFF2-40B4-BE49-F238E27FC236}">
                    <a16:creationId xmlns:a16="http://schemas.microsoft.com/office/drawing/2014/main" id="{A511BC03-80F7-D974-770E-C2E71CA348B7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31">
                <a:extLst>
                  <a:ext uri="{FF2B5EF4-FFF2-40B4-BE49-F238E27FC236}">
                    <a16:creationId xmlns:a16="http://schemas.microsoft.com/office/drawing/2014/main" id="{242FB99A-478A-E2F3-12DA-9680780905B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2">
                <a:extLst>
                  <a:ext uri="{FF2B5EF4-FFF2-40B4-BE49-F238E27FC236}">
                    <a16:creationId xmlns:a16="http://schemas.microsoft.com/office/drawing/2014/main" id="{EDF662EA-4AE5-6EA1-C634-151A9CA6FA7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3">
                <a:extLst>
                  <a:ext uri="{FF2B5EF4-FFF2-40B4-BE49-F238E27FC236}">
                    <a16:creationId xmlns:a16="http://schemas.microsoft.com/office/drawing/2014/main" id="{E379F9FF-FC8F-B8EF-4C10-79ADAAE95AD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4">
                <a:extLst>
                  <a:ext uri="{FF2B5EF4-FFF2-40B4-BE49-F238E27FC236}">
                    <a16:creationId xmlns:a16="http://schemas.microsoft.com/office/drawing/2014/main" id="{6C0B24EB-C50E-74D2-0386-650EE386A81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35">
                <a:extLst>
                  <a:ext uri="{FF2B5EF4-FFF2-40B4-BE49-F238E27FC236}">
                    <a16:creationId xmlns:a16="http://schemas.microsoft.com/office/drawing/2014/main" id="{AF8A959D-C8C5-11E6-A5A6-185EB86170F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36">
                <a:extLst>
                  <a:ext uri="{FF2B5EF4-FFF2-40B4-BE49-F238E27FC236}">
                    <a16:creationId xmlns:a16="http://schemas.microsoft.com/office/drawing/2014/main" id="{7A26E8D0-807D-E9C3-44D1-BC388E1F12B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37">
                <a:extLst>
                  <a:ext uri="{FF2B5EF4-FFF2-40B4-BE49-F238E27FC236}">
                    <a16:creationId xmlns:a16="http://schemas.microsoft.com/office/drawing/2014/main" id="{ECCD1009-19A1-109E-FD9C-48616BCE2A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38">
                <a:extLst>
                  <a:ext uri="{FF2B5EF4-FFF2-40B4-BE49-F238E27FC236}">
                    <a16:creationId xmlns:a16="http://schemas.microsoft.com/office/drawing/2014/main" id="{5374680F-E792-05ED-5B60-8167C01156A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115151-A857-CB96-FF95-792E3666BDDF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56" name="Freeform: Shape 4">
              <a:extLst>
                <a:ext uri="{FF2B5EF4-FFF2-40B4-BE49-F238E27FC236}">
                  <a16:creationId xmlns:a16="http://schemas.microsoft.com/office/drawing/2014/main" id="{34FD5F15-DB53-5AD0-674E-C0C86ADAA8B2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: Shape 5">
              <a:extLst>
                <a:ext uri="{FF2B5EF4-FFF2-40B4-BE49-F238E27FC236}">
                  <a16:creationId xmlns:a16="http://schemas.microsoft.com/office/drawing/2014/main" id="{EC0A8D1E-CA2D-782E-3D4F-CBD672B12C0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6">
              <a:extLst>
                <a:ext uri="{FF2B5EF4-FFF2-40B4-BE49-F238E27FC236}">
                  <a16:creationId xmlns:a16="http://schemas.microsoft.com/office/drawing/2014/main" id="{3AA98D91-DC62-DFF0-BE69-EE170804CB0C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7">
              <a:extLst>
                <a:ext uri="{FF2B5EF4-FFF2-40B4-BE49-F238E27FC236}">
                  <a16:creationId xmlns:a16="http://schemas.microsoft.com/office/drawing/2014/main" id="{91B4152F-86F4-D3F5-22C5-8A91507303CA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8">
              <a:extLst>
                <a:ext uri="{FF2B5EF4-FFF2-40B4-BE49-F238E27FC236}">
                  <a16:creationId xmlns:a16="http://schemas.microsoft.com/office/drawing/2014/main" id="{10A665A4-09FC-3ABF-C705-D80C44C52968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9">
              <a:extLst>
                <a:ext uri="{FF2B5EF4-FFF2-40B4-BE49-F238E27FC236}">
                  <a16:creationId xmlns:a16="http://schemas.microsoft.com/office/drawing/2014/main" id="{F53CCE94-317E-CA57-D74C-EB1D00A1B25E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10">
              <a:extLst>
                <a:ext uri="{FF2B5EF4-FFF2-40B4-BE49-F238E27FC236}">
                  <a16:creationId xmlns:a16="http://schemas.microsoft.com/office/drawing/2014/main" id="{60216A3B-F098-275D-73F1-73834639487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11">
              <a:extLst>
                <a:ext uri="{FF2B5EF4-FFF2-40B4-BE49-F238E27FC236}">
                  <a16:creationId xmlns:a16="http://schemas.microsoft.com/office/drawing/2014/main" id="{6A3ADFA3-7773-66D9-191F-999051984BE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12">
              <a:extLst>
                <a:ext uri="{FF2B5EF4-FFF2-40B4-BE49-F238E27FC236}">
                  <a16:creationId xmlns:a16="http://schemas.microsoft.com/office/drawing/2014/main" id="{2BA46B5B-C2C0-E355-874B-EDD3C96AA5B2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13">
              <a:extLst>
                <a:ext uri="{FF2B5EF4-FFF2-40B4-BE49-F238E27FC236}">
                  <a16:creationId xmlns:a16="http://schemas.microsoft.com/office/drawing/2014/main" id="{519392F2-2BDB-9741-30EF-B02AE99B34E5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14">
              <a:extLst>
                <a:ext uri="{FF2B5EF4-FFF2-40B4-BE49-F238E27FC236}">
                  <a16:creationId xmlns:a16="http://schemas.microsoft.com/office/drawing/2014/main" id="{4426DD0A-DB7E-408D-0D85-5937BA93A38F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15">
              <a:extLst>
                <a:ext uri="{FF2B5EF4-FFF2-40B4-BE49-F238E27FC236}">
                  <a16:creationId xmlns:a16="http://schemas.microsoft.com/office/drawing/2014/main" id="{9919680F-D07A-FC52-4AFD-8D7614DA4EE4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16">
              <a:extLst>
                <a:ext uri="{FF2B5EF4-FFF2-40B4-BE49-F238E27FC236}">
                  <a16:creationId xmlns:a16="http://schemas.microsoft.com/office/drawing/2014/main" id="{AA9E59E1-186A-96B8-929E-AD736DD1C64A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17">
              <a:extLst>
                <a:ext uri="{FF2B5EF4-FFF2-40B4-BE49-F238E27FC236}">
                  <a16:creationId xmlns:a16="http://schemas.microsoft.com/office/drawing/2014/main" id="{4FDA81DC-B815-6D24-4492-923FDD5898E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18">
              <a:extLst>
                <a:ext uri="{FF2B5EF4-FFF2-40B4-BE49-F238E27FC236}">
                  <a16:creationId xmlns:a16="http://schemas.microsoft.com/office/drawing/2014/main" id="{E6E01E35-AF79-D06F-183F-C8D0F49B57B7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19">
              <a:extLst>
                <a:ext uri="{FF2B5EF4-FFF2-40B4-BE49-F238E27FC236}">
                  <a16:creationId xmlns:a16="http://schemas.microsoft.com/office/drawing/2014/main" id="{69829EB7-FF82-B896-8B2B-9DCCA59DB8F4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20">
              <a:extLst>
                <a:ext uri="{FF2B5EF4-FFF2-40B4-BE49-F238E27FC236}">
                  <a16:creationId xmlns:a16="http://schemas.microsoft.com/office/drawing/2014/main" id="{2D7BB3AC-F273-667A-3FCE-79B7793100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21">
              <a:extLst>
                <a:ext uri="{FF2B5EF4-FFF2-40B4-BE49-F238E27FC236}">
                  <a16:creationId xmlns:a16="http://schemas.microsoft.com/office/drawing/2014/main" id="{C71019C0-524E-FAB1-412F-CE4ADD8C4512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22">
              <a:extLst>
                <a:ext uri="{FF2B5EF4-FFF2-40B4-BE49-F238E27FC236}">
                  <a16:creationId xmlns:a16="http://schemas.microsoft.com/office/drawing/2014/main" id="{571C120C-42FB-BE7A-1ED1-942366EB6B98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23">
              <a:extLst>
                <a:ext uri="{FF2B5EF4-FFF2-40B4-BE49-F238E27FC236}">
                  <a16:creationId xmlns:a16="http://schemas.microsoft.com/office/drawing/2014/main" id="{1F7509FD-1FCA-BE82-F1A9-C7D6468E1F4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24">
              <a:extLst>
                <a:ext uri="{FF2B5EF4-FFF2-40B4-BE49-F238E27FC236}">
                  <a16:creationId xmlns:a16="http://schemas.microsoft.com/office/drawing/2014/main" id="{AF2F3931-B429-E51A-7307-7F63BE4280A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25">
              <a:extLst>
                <a:ext uri="{FF2B5EF4-FFF2-40B4-BE49-F238E27FC236}">
                  <a16:creationId xmlns:a16="http://schemas.microsoft.com/office/drawing/2014/main" id="{5CC93A69-9C26-EC23-EE8A-C1DE5804FD1C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26">
              <a:extLst>
                <a:ext uri="{FF2B5EF4-FFF2-40B4-BE49-F238E27FC236}">
                  <a16:creationId xmlns:a16="http://schemas.microsoft.com/office/drawing/2014/main" id="{2BD68FC7-A5C2-5A95-FB98-3EF4092AB917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27">
              <a:extLst>
                <a:ext uri="{FF2B5EF4-FFF2-40B4-BE49-F238E27FC236}">
                  <a16:creationId xmlns:a16="http://schemas.microsoft.com/office/drawing/2014/main" id="{1D13C815-D780-E0F3-4E78-C36D1E3937DA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28">
              <a:extLst>
                <a:ext uri="{FF2B5EF4-FFF2-40B4-BE49-F238E27FC236}">
                  <a16:creationId xmlns:a16="http://schemas.microsoft.com/office/drawing/2014/main" id="{1271A274-A83C-28E4-9E90-80E03D2F353C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29">
              <a:extLst>
                <a:ext uri="{FF2B5EF4-FFF2-40B4-BE49-F238E27FC236}">
                  <a16:creationId xmlns:a16="http://schemas.microsoft.com/office/drawing/2014/main" id="{F3DE7F61-6B08-EC79-0A78-A610F336535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30">
              <a:extLst>
                <a:ext uri="{FF2B5EF4-FFF2-40B4-BE49-F238E27FC236}">
                  <a16:creationId xmlns:a16="http://schemas.microsoft.com/office/drawing/2014/main" id="{E5485934-1351-E076-AE41-9DC71500C93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31">
              <a:extLst>
                <a:ext uri="{FF2B5EF4-FFF2-40B4-BE49-F238E27FC236}">
                  <a16:creationId xmlns:a16="http://schemas.microsoft.com/office/drawing/2014/main" id="{CBAF5EB4-445D-EE23-9816-9BFFFF2F150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32">
              <a:extLst>
                <a:ext uri="{FF2B5EF4-FFF2-40B4-BE49-F238E27FC236}">
                  <a16:creationId xmlns:a16="http://schemas.microsoft.com/office/drawing/2014/main" id="{5EA1DBFA-4770-21EC-B805-035E42AC44B6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33">
              <a:extLst>
                <a:ext uri="{FF2B5EF4-FFF2-40B4-BE49-F238E27FC236}">
                  <a16:creationId xmlns:a16="http://schemas.microsoft.com/office/drawing/2014/main" id="{9E45F474-FC30-CDE8-3DD2-E0FCD171F6DB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34">
              <a:extLst>
                <a:ext uri="{FF2B5EF4-FFF2-40B4-BE49-F238E27FC236}">
                  <a16:creationId xmlns:a16="http://schemas.microsoft.com/office/drawing/2014/main" id="{FD86D5DA-FE37-238D-C468-B759392F1AD0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35">
              <a:extLst>
                <a:ext uri="{FF2B5EF4-FFF2-40B4-BE49-F238E27FC236}">
                  <a16:creationId xmlns:a16="http://schemas.microsoft.com/office/drawing/2014/main" id="{552093B1-DDEC-92C0-8720-E887322910D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36">
              <a:extLst>
                <a:ext uri="{FF2B5EF4-FFF2-40B4-BE49-F238E27FC236}">
                  <a16:creationId xmlns:a16="http://schemas.microsoft.com/office/drawing/2014/main" id="{12BDA615-1EF5-8E53-2900-60792CCE1A2B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37">
              <a:extLst>
                <a:ext uri="{FF2B5EF4-FFF2-40B4-BE49-F238E27FC236}">
                  <a16:creationId xmlns:a16="http://schemas.microsoft.com/office/drawing/2014/main" id="{96FD613A-96AB-9D79-350D-D6074FE20D2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38">
              <a:extLst>
                <a:ext uri="{FF2B5EF4-FFF2-40B4-BE49-F238E27FC236}">
                  <a16:creationId xmlns:a16="http://schemas.microsoft.com/office/drawing/2014/main" id="{DB86E467-0ACD-74DB-9837-723FF6B2495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ED5450D9-CC76-2519-77D4-AF62501A7139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92981F4-B77B-FE1B-C55C-7EDD200673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9331" y="107021"/>
            <a:ext cx="583813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i="0" u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 Clinical Findings &amp; Insights</a:t>
            </a:r>
          </a:p>
        </p:txBody>
      </p:sp>
      <p:sp>
        <p:nvSpPr>
          <p:cNvPr id="93" name="Slide Number Placeholder 4">
            <a:extLst>
              <a:ext uri="{FF2B5EF4-FFF2-40B4-BE49-F238E27FC236}">
                <a16:creationId xmlns:a16="http://schemas.microsoft.com/office/drawing/2014/main" id="{D858A36B-1A69-F925-AAE9-C4CA87DA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715708" y="3074194"/>
            <a:ext cx="13001625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 dirty="0">
                <a:solidFill>
                  <a:srgbClr val="0F172A"/>
                </a:solidFill>
                <a:latin typeface="Montserrat"/>
              </a:rPr>
              <a:t>Thank You!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8D6708-FDB9-F665-D07B-2378BDC44CE6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7D9B9-A2A1-8C52-AE6C-7478AB0D529D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ED1D3D-F473-7D96-490C-B731C4A4B867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16" name="Freeform: Shape 4">
                <a:extLst>
                  <a:ext uri="{FF2B5EF4-FFF2-40B4-BE49-F238E27FC236}">
                    <a16:creationId xmlns:a16="http://schemas.microsoft.com/office/drawing/2014/main" id="{9E61E831-02FB-8E77-E080-12549E4DAEA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Freeform: Shape 5">
                <a:extLst>
                  <a:ext uri="{FF2B5EF4-FFF2-40B4-BE49-F238E27FC236}">
                    <a16:creationId xmlns:a16="http://schemas.microsoft.com/office/drawing/2014/main" id="{32017B77-E96B-4F3A-38B0-2E71DEE48EA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Freeform: Shape 6">
                <a:extLst>
                  <a:ext uri="{FF2B5EF4-FFF2-40B4-BE49-F238E27FC236}">
                    <a16:creationId xmlns:a16="http://schemas.microsoft.com/office/drawing/2014/main" id="{4A362496-D451-1860-2FEF-29BD9CC8E83E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Freeform: Shape 7">
                <a:extLst>
                  <a:ext uri="{FF2B5EF4-FFF2-40B4-BE49-F238E27FC236}">
                    <a16:creationId xmlns:a16="http://schemas.microsoft.com/office/drawing/2014/main" id="{6277AB22-92E3-B48F-4E0E-896FE8CEF096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Freeform: Shape 8">
                <a:extLst>
                  <a:ext uri="{FF2B5EF4-FFF2-40B4-BE49-F238E27FC236}">
                    <a16:creationId xmlns:a16="http://schemas.microsoft.com/office/drawing/2014/main" id="{880A8032-523D-C1A3-1439-14D93C1B297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Freeform: Shape 9">
                <a:extLst>
                  <a:ext uri="{FF2B5EF4-FFF2-40B4-BE49-F238E27FC236}">
                    <a16:creationId xmlns:a16="http://schemas.microsoft.com/office/drawing/2014/main" id="{C1251A35-1976-F257-0F12-48ADD0B4A27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10">
                <a:extLst>
                  <a:ext uri="{FF2B5EF4-FFF2-40B4-BE49-F238E27FC236}">
                    <a16:creationId xmlns:a16="http://schemas.microsoft.com/office/drawing/2014/main" id="{6553BD55-CFA2-0F67-D0FA-03DF1E364E3B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11">
                <a:extLst>
                  <a:ext uri="{FF2B5EF4-FFF2-40B4-BE49-F238E27FC236}">
                    <a16:creationId xmlns:a16="http://schemas.microsoft.com/office/drawing/2014/main" id="{F965C44F-CD12-2645-E663-3F5B7880DA9E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12">
                <a:extLst>
                  <a:ext uri="{FF2B5EF4-FFF2-40B4-BE49-F238E27FC236}">
                    <a16:creationId xmlns:a16="http://schemas.microsoft.com/office/drawing/2014/main" id="{24175136-8D88-6418-FC87-B7E645919810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13">
                <a:extLst>
                  <a:ext uri="{FF2B5EF4-FFF2-40B4-BE49-F238E27FC236}">
                    <a16:creationId xmlns:a16="http://schemas.microsoft.com/office/drawing/2014/main" id="{6127683C-F6CC-AD80-D1FC-EC72B71E41D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14">
                <a:extLst>
                  <a:ext uri="{FF2B5EF4-FFF2-40B4-BE49-F238E27FC236}">
                    <a16:creationId xmlns:a16="http://schemas.microsoft.com/office/drawing/2014/main" id="{54F67067-E39E-9CD3-F438-7293B69BA378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15">
                <a:extLst>
                  <a:ext uri="{FF2B5EF4-FFF2-40B4-BE49-F238E27FC236}">
                    <a16:creationId xmlns:a16="http://schemas.microsoft.com/office/drawing/2014/main" id="{F8113670-98C4-255A-FCEA-91D6EA0E4D9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6">
                <a:extLst>
                  <a:ext uri="{FF2B5EF4-FFF2-40B4-BE49-F238E27FC236}">
                    <a16:creationId xmlns:a16="http://schemas.microsoft.com/office/drawing/2014/main" id="{3CAB729A-418A-D3BE-1FC4-FDFA38A863F5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7">
                <a:extLst>
                  <a:ext uri="{FF2B5EF4-FFF2-40B4-BE49-F238E27FC236}">
                    <a16:creationId xmlns:a16="http://schemas.microsoft.com/office/drawing/2014/main" id="{9F0DE049-4487-3229-2918-6D5894EDBC23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8">
                <a:extLst>
                  <a:ext uri="{FF2B5EF4-FFF2-40B4-BE49-F238E27FC236}">
                    <a16:creationId xmlns:a16="http://schemas.microsoft.com/office/drawing/2014/main" id="{2007371B-1375-2044-07D1-33C627A4966A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19">
                <a:extLst>
                  <a:ext uri="{FF2B5EF4-FFF2-40B4-BE49-F238E27FC236}">
                    <a16:creationId xmlns:a16="http://schemas.microsoft.com/office/drawing/2014/main" id="{5E834084-BFBC-2179-A95C-97067670E55D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20">
                <a:extLst>
                  <a:ext uri="{FF2B5EF4-FFF2-40B4-BE49-F238E27FC236}">
                    <a16:creationId xmlns:a16="http://schemas.microsoft.com/office/drawing/2014/main" id="{DCD8AA2A-266B-3B38-F48E-860149826E1D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21">
                <a:extLst>
                  <a:ext uri="{FF2B5EF4-FFF2-40B4-BE49-F238E27FC236}">
                    <a16:creationId xmlns:a16="http://schemas.microsoft.com/office/drawing/2014/main" id="{1B4189F7-46E8-4220-7A3B-F4C84BF43C2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22">
                <a:extLst>
                  <a:ext uri="{FF2B5EF4-FFF2-40B4-BE49-F238E27FC236}">
                    <a16:creationId xmlns:a16="http://schemas.microsoft.com/office/drawing/2014/main" id="{39E3172B-B476-4F99-E2CB-DAD3D9681B3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23">
                <a:extLst>
                  <a:ext uri="{FF2B5EF4-FFF2-40B4-BE49-F238E27FC236}">
                    <a16:creationId xmlns:a16="http://schemas.microsoft.com/office/drawing/2014/main" id="{11088200-3CFE-8ED5-B952-3B0EA9920C00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24">
                <a:extLst>
                  <a:ext uri="{FF2B5EF4-FFF2-40B4-BE49-F238E27FC236}">
                    <a16:creationId xmlns:a16="http://schemas.microsoft.com/office/drawing/2014/main" id="{A7079F5B-7F75-2CE3-6C8A-C2028E2BB94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25">
                <a:extLst>
                  <a:ext uri="{FF2B5EF4-FFF2-40B4-BE49-F238E27FC236}">
                    <a16:creationId xmlns:a16="http://schemas.microsoft.com/office/drawing/2014/main" id="{9F98180A-D093-8888-3B27-6A725B05683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6">
                <a:extLst>
                  <a:ext uri="{FF2B5EF4-FFF2-40B4-BE49-F238E27FC236}">
                    <a16:creationId xmlns:a16="http://schemas.microsoft.com/office/drawing/2014/main" id="{FEE66BF9-82C0-D51F-EC02-334B18FB068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7">
                <a:extLst>
                  <a:ext uri="{FF2B5EF4-FFF2-40B4-BE49-F238E27FC236}">
                    <a16:creationId xmlns:a16="http://schemas.microsoft.com/office/drawing/2014/main" id="{367BFACD-51ED-29A4-ED77-218CE72C5C81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8">
                <a:extLst>
                  <a:ext uri="{FF2B5EF4-FFF2-40B4-BE49-F238E27FC236}">
                    <a16:creationId xmlns:a16="http://schemas.microsoft.com/office/drawing/2014/main" id="{41D5CCF0-B404-5675-E9B2-C737E667EB62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29">
                <a:extLst>
                  <a:ext uri="{FF2B5EF4-FFF2-40B4-BE49-F238E27FC236}">
                    <a16:creationId xmlns:a16="http://schemas.microsoft.com/office/drawing/2014/main" id="{176AE529-9000-BC31-8265-D78D0EF98C8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30">
                <a:extLst>
                  <a:ext uri="{FF2B5EF4-FFF2-40B4-BE49-F238E27FC236}">
                    <a16:creationId xmlns:a16="http://schemas.microsoft.com/office/drawing/2014/main" id="{A5E6470F-8C96-1681-C43A-144C2F422A2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31">
                <a:extLst>
                  <a:ext uri="{FF2B5EF4-FFF2-40B4-BE49-F238E27FC236}">
                    <a16:creationId xmlns:a16="http://schemas.microsoft.com/office/drawing/2014/main" id="{7C489D1E-9046-19E8-D0A9-C4E6C45C99E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32">
                <a:extLst>
                  <a:ext uri="{FF2B5EF4-FFF2-40B4-BE49-F238E27FC236}">
                    <a16:creationId xmlns:a16="http://schemas.microsoft.com/office/drawing/2014/main" id="{7D6CE02E-9559-59AC-5432-4904109D0E1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33">
                <a:extLst>
                  <a:ext uri="{FF2B5EF4-FFF2-40B4-BE49-F238E27FC236}">
                    <a16:creationId xmlns:a16="http://schemas.microsoft.com/office/drawing/2014/main" id="{982235F9-6C36-D1A0-08B0-DFC0A9B82EE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34">
                <a:extLst>
                  <a:ext uri="{FF2B5EF4-FFF2-40B4-BE49-F238E27FC236}">
                    <a16:creationId xmlns:a16="http://schemas.microsoft.com/office/drawing/2014/main" id="{F9666792-8E09-9183-CB58-BDEC667195FC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35">
                <a:extLst>
                  <a:ext uri="{FF2B5EF4-FFF2-40B4-BE49-F238E27FC236}">
                    <a16:creationId xmlns:a16="http://schemas.microsoft.com/office/drawing/2014/main" id="{57970F09-63E9-85D2-4EE8-809CAF4F942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6">
                <a:extLst>
                  <a:ext uri="{FF2B5EF4-FFF2-40B4-BE49-F238E27FC236}">
                    <a16:creationId xmlns:a16="http://schemas.microsoft.com/office/drawing/2014/main" id="{6A024C8C-F572-796D-5979-07D794442C3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7">
                <a:extLst>
                  <a:ext uri="{FF2B5EF4-FFF2-40B4-BE49-F238E27FC236}">
                    <a16:creationId xmlns:a16="http://schemas.microsoft.com/office/drawing/2014/main" id="{33B576B4-2D19-62F0-3E63-B6A79322E5E7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8">
                <a:extLst>
                  <a:ext uri="{FF2B5EF4-FFF2-40B4-BE49-F238E27FC236}">
                    <a16:creationId xmlns:a16="http://schemas.microsoft.com/office/drawing/2014/main" id="{23ACA053-8921-29C4-67BD-04612E33779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083862-C0DD-B151-1E78-6FACDF094A99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52" name="Freeform: Shape 4">
              <a:extLst>
                <a:ext uri="{FF2B5EF4-FFF2-40B4-BE49-F238E27FC236}">
                  <a16:creationId xmlns:a16="http://schemas.microsoft.com/office/drawing/2014/main" id="{DDD79772-3FEC-6ED5-F854-D1C18AA68210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Freeform: Shape 5">
              <a:extLst>
                <a:ext uri="{FF2B5EF4-FFF2-40B4-BE49-F238E27FC236}">
                  <a16:creationId xmlns:a16="http://schemas.microsoft.com/office/drawing/2014/main" id="{69389D7E-5CF1-DED6-EBA2-5CB4C682C4B0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: Shape 6">
              <a:extLst>
                <a:ext uri="{FF2B5EF4-FFF2-40B4-BE49-F238E27FC236}">
                  <a16:creationId xmlns:a16="http://schemas.microsoft.com/office/drawing/2014/main" id="{915780E5-DD37-87C4-3249-923E4A2578FE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: Shape 7">
              <a:extLst>
                <a:ext uri="{FF2B5EF4-FFF2-40B4-BE49-F238E27FC236}">
                  <a16:creationId xmlns:a16="http://schemas.microsoft.com/office/drawing/2014/main" id="{47FF8872-EA82-0BE0-88B2-3F30B0182EFD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Freeform: Shape 8">
              <a:extLst>
                <a:ext uri="{FF2B5EF4-FFF2-40B4-BE49-F238E27FC236}">
                  <a16:creationId xmlns:a16="http://schemas.microsoft.com/office/drawing/2014/main" id="{2A5454C8-69AA-BADC-F0D0-EAD0BD95CED5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: Shape 9">
              <a:extLst>
                <a:ext uri="{FF2B5EF4-FFF2-40B4-BE49-F238E27FC236}">
                  <a16:creationId xmlns:a16="http://schemas.microsoft.com/office/drawing/2014/main" id="{1A94CF82-2BB3-7F46-92BA-273B64827BE1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10">
              <a:extLst>
                <a:ext uri="{FF2B5EF4-FFF2-40B4-BE49-F238E27FC236}">
                  <a16:creationId xmlns:a16="http://schemas.microsoft.com/office/drawing/2014/main" id="{026BD913-BA91-FE1E-AC76-67380F0005D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11">
              <a:extLst>
                <a:ext uri="{FF2B5EF4-FFF2-40B4-BE49-F238E27FC236}">
                  <a16:creationId xmlns:a16="http://schemas.microsoft.com/office/drawing/2014/main" id="{5D545DA6-59E4-37EA-6003-226A94C796C6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12">
              <a:extLst>
                <a:ext uri="{FF2B5EF4-FFF2-40B4-BE49-F238E27FC236}">
                  <a16:creationId xmlns:a16="http://schemas.microsoft.com/office/drawing/2014/main" id="{CE8921EC-FAD8-A7D0-7C6B-B75495276065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13">
              <a:extLst>
                <a:ext uri="{FF2B5EF4-FFF2-40B4-BE49-F238E27FC236}">
                  <a16:creationId xmlns:a16="http://schemas.microsoft.com/office/drawing/2014/main" id="{65151654-5DF8-7C78-85D7-A22D47CD8BEA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14">
              <a:extLst>
                <a:ext uri="{FF2B5EF4-FFF2-40B4-BE49-F238E27FC236}">
                  <a16:creationId xmlns:a16="http://schemas.microsoft.com/office/drawing/2014/main" id="{CC953E53-EA6C-38FA-E355-973C39610634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15">
              <a:extLst>
                <a:ext uri="{FF2B5EF4-FFF2-40B4-BE49-F238E27FC236}">
                  <a16:creationId xmlns:a16="http://schemas.microsoft.com/office/drawing/2014/main" id="{53DDFA5D-A0C9-6472-61EE-00154717ED6B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16">
              <a:extLst>
                <a:ext uri="{FF2B5EF4-FFF2-40B4-BE49-F238E27FC236}">
                  <a16:creationId xmlns:a16="http://schemas.microsoft.com/office/drawing/2014/main" id="{FBCBE18F-84D0-EB8F-EC8C-F6F60AB6A3C3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17">
              <a:extLst>
                <a:ext uri="{FF2B5EF4-FFF2-40B4-BE49-F238E27FC236}">
                  <a16:creationId xmlns:a16="http://schemas.microsoft.com/office/drawing/2014/main" id="{079A77A4-5750-3578-A501-F671B66AFE8F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18">
              <a:extLst>
                <a:ext uri="{FF2B5EF4-FFF2-40B4-BE49-F238E27FC236}">
                  <a16:creationId xmlns:a16="http://schemas.microsoft.com/office/drawing/2014/main" id="{22F0F745-D037-140A-51FF-251A3804245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19">
              <a:extLst>
                <a:ext uri="{FF2B5EF4-FFF2-40B4-BE49-F238E27FC236}">
                  <a16:creationId xmlns:a16="http://schemas.microsoft.com/office/drawing/2014/main" id="{B6CC6E0A-B9B3-720D-826E-580086EA27DF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20">
              <a:extLst>
                <a:ext uri="{FF2B5EF4-FFF2-40B4-BE49-F238E27FC236}">
                  <a16:creationId xmlns:a16="http://schemas.microsoft.com/office/drawing/2014/main" id="{9351787F-0FAC-2F4C-481C-93AC638CBFE5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21">
              <a:extLst>
                <a:ext uri="{FF2B5EF4-FFF2-40B4-BE49-F238E27FC236}">
                  <a16:creationId xmlns:a16="http://schemas.microsoft.com/office/drawing/2014/main" id="{13844CDD-D8AD-5B34-F28C-416B25301B38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22">
              <a:extLst>
                <a:ext uri="{FF2B5EF4-FFF2-40B4-BE49-F238E27FC236}">
                  <a16:creationId xmlns:a16="http://schemas.microsoft.com/office/drawing/2014/main" id="{FF2321E3-CBAC-BF28-09CF-2E249ACB24D9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23">
              <a:extLst>
                <a:ext uri="{FF2B5EF4-FFF2-40B4-BE49-F238E27FC236}">
                  <a16:creationId xmlns:a16="http://schemas.microsoft.com/office/drawing/2014/main" id="{09494A9A-99AD-D78A-519E-C00E73428BB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24">
              <a:extLst>
                <a:ext uri="{FF2B5EF4-FFF2-40B4-BE49-F238E27FC236}">
                  <a16:creationId xmlns:a16="http://schemas.microsoft.com/office/drawing/2014/main" id="{2787533A-B94E-6EB7-7BD2-C0AA4031CB0F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25">
              <a:extLst>
                <a:ext uri="{FF2B5EF4-FFF2-40B4-BE49-F238E27FC236}">
                  <a16:creationId xmlns:a16="http://schemas.microsoft.com/office/drawing/2014/main" id="{9E97787E-9EE1-C081-D1E6-BB8D7F033F6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26">
              <a:extLst>
                <a:ext uri="{FF2B5EF4-FFF2-40B4-BE49-F238E27FC236}">
                  <a16:creationId xmlns:a16="http://schemas.microsoft.com/office/drawing/2014/main" id="{F92BDF39-8D6B-6F91-3C70-88ACA65F9FFB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27">
              <a:extLst>
                <a:ext uri="{FF2B5EF4-FFF2-40B4-BE49-F238E27FC236}">
                  <a16:creationId xmlns:a16="http://schemas.microsoft.com/office/drawing/2014/main" id="{AADCA44E-7F06-5E67-2EA8-7C07CB7D314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28">
              <a:extLst>
                <a:ext uri="{FF2B5EF4-FFF2-40B4-BE49-F238E27FC236}">
                  <a16:creationId xmlns:a16="http://schemas.microsoft.com/office/drawing/2014/main" id="{9F53722A-F564-899F-C16E-3DF8DAAAA86D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29">
              <a:extLst>
                <a:ext uri="{FF2B5EF4-FFF2-40B4-BE49-F238E27FC236}">
                  <a16:creationId xmlns:a16="http://schemas.microsoft.com/office/drawing/2014/main" id="{65DA3C54-3EB8-DA90-DD66-523CFDD2F14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30">
              <a:extLst>
                <a:ext uri="{FF2B5EF4-FFF2-40B4-BE49-F238E27FC236}">
                  <a16:creationId xmlns:a16="http://schemas.microsoft.com/office/drawing/2014/main" id="{D4066980-CE53-4979-4382-720759865449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31">
              <a:extLst>
                <a:ext uri="{FF2B5EF4-FFF2-40B4-BE49-F238E27FC236}">
                  <a16:creationId xmlns:a16="http://schemas.microsoft.com/office/drawing/2014/main" id="{56AF6216-5A23-2354-F7C5-CB878652247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32">
              <a:extLst>
                <a:ext uri="{FF2B5EF4-FFF2-40B4-BE49-F238E27FC236}">
                  <a16:creationId xmlns:a16="http://schemas.microsoft.com/office/drawing/2014/main" id="{988332E2-6B5D-4EE0-9426-CDA656AD7000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33">
              <a:extLst>
                <a:ext uri="{FF2B5EF4-FFF2-40B4-BE49-F238E27FC236}">
                  <a16:creationId xmlns:a16="http://schemas.microsoft.com/office/drawing/2014/main" id="{85249206-A168-D676-DD6C-6E608B7990F6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34">
              <a:extLst>
                <a:ext uri="{FF2B5EF4-FFF2-40B4-BE49-F238E27FC236}">
                  <a16:creationId xmlns:a16="http://schemas.microsoft.com/office/drawing/2014/main" id="{5F35BB00-DD31-9C7E-F759-31AAEC0E463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35">
              <a:extLst>
                <a:ext uri="{FF2B5EF4-FFF2-40B4-BE49-F238E27FC236}">
                  <a16:creationId xmlns:a16="http://schemas.microsoft.com/office/drawing/2014/main" id="{CB5BACEB-66E1-D62F-008C-DEFCD41B8877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36">
              <a:extLst>
                <a:ext uri="{FF2B5EF4-FFF2-40B4-BE49-F238E27FC236}">
                  <a16:creationId xmlns:a16="http://schemas.microsoft.com/office/drawing/2014/main" id="{497CABFD-F9C2-3167-3E6F-52EE401808F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37">
              <a:extLst>
                <a:ext uri="{FF2B5EF4-FFF2-40B4-BE49-F238E27FC236}">
                  <a16:creationId xmlns:a16="http://schemas.microsoft.com/office/drawing/2014/main" id="{0AC89EBB-3C78-4D6D-F154-B943CC8C7D04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38">
              <a:extLst>
                <a:ext uri="{FF2B5EF4-FFF2-40B4-BE49-F238E27FC236}">
                  <a16:creationId xmlns:a16="http://schemas.microsoft.com/office/drawing/2014/main" id="{DB20A39D-A3AA-6968-7B3C-84A92F0ABA61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E9F81F7B-13E5-184F-5080-FAD03341E33D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ko-KR" alt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5E025261-0217-28EE-C401-173727D0D6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89" name="Slide Number Placeholder 4">
            <a:extLst>
              <a:ext uri="{FF2B5EF4-FFF2-40B4-BE49-F238E27FC236}">
                <a16:creationId xmlns:a16="http://schemas.microsoft.com/office/drawing/2014/main" id="{D126A17F-35B5-4D93-4847-C9BC08A3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266" y="6457794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>
                <a:solidFill>
                  <a:schemeClr val="bg1"/>
                </a:solidFill>
              </a:rPr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694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Cinzel</vt:lpstr>
      <vt:lpstr>Montserrat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Gargi Balamwar</dc:creator>
  <cp:keywords/>
  <dc:description>generated using python-pptx</dc:description>
  <cp:lastModifiedBy>Gargi Balamwar</cp:lastModifiedBy>
  <cp:revision>5</cp:revision>
  <dcterms:created xsi:type="dcterms:W3CDTF">2013-01-27T09:14:16Z</dcterms:created>
  <dcterms:modified xsi:type="dcterms:W3CDTF">2026-10-22T17:18:09Z</dcterms:modified>
  <cp:category/>
</cp:coreProperties>
</file>